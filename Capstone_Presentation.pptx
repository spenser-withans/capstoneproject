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964846-391A-4D72-B66E-B3296B86AEE8}">
  <a:tblStyle styleId="{60964846-391A-4D72-B66E-B3296B86AE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2f1c765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2f1c765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What’s </a:t>
            </a:r>
            <a:r>
              <a:rPr lang="en"/>
              <a:t>the</a:t>
            </a:r>
            <a:r>
              <a:rPr lang="en"/>
              <a:t> house worth?</a:t>
            </a:r>
            <a:endParaRPr/>
          </a:p>
          <a:p>
            <a:pPr indent="0" lvl="0" marL="0" rtl="0" algn="l">
              <a:lnSpc>
                <a:spcPct val="115000"/>
              </a:lnSpc>
              <a:spcBef>
                <a:spcPts val="1200"/>
              </a:spcBef>
              <a:spcAft>
                <a:spcPts val="1200"/>
              </a:spcAft>
              <a:buNone/>
            </a:pPr>
            <a:r>
              <a:rPr lang="en"/>
              <a:t>Differences in housing prices can seem both objective and arbitrary. These two houses are the same number of bedrooms, bathrooms, and nearly the same square footage. Why is the difference in price so great?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c58a31e9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c58a31e9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One house has twice the number of bedrooms and an extra bathroom, for an extra 900 square </a:t>
            </a:r>
            <a:r>
              <a:rPr lang="en"/>
              <a:t>feet compared to the other.</a:t>
            </a:r>
            <a:r>
              <a:rPr lang="en"/>
              <a:t> One house clearly has a pool. Both are in the same neighborhood. Why are the prices so similar? Why does the larger one have a lower asking price???</a:t>
            </a:r>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5c58a31e9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5c58a31e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t>I wanted to see what factors of a house seem to most affect the price and see if those factors can then be used to predict the prices.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5c58a31e9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5c58a31e9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Almost everyone should care how houses are valued.</a:t>
            </a:r>
            <a:endParaRPr/>
          </a:p>
          <a:p>
            <a:pPr indent="0" lvl="0" marL="0" rtl="0" algn="l">
              <a:spcBef>
                <a:spcPts val="0"/>
              </a:spcBef>
              <a:spcAft>
                <a:spcPts val="0"/>
              </a:spcAft>
              <a:buNone/>
            </a:pPr>
            <a:r>
              <a:rPr lang="en"/>
              <a:t>Homeowners looking to sell their house will want to know what factors affect the price of their home so that they can make an asking price.</a:t>
            </a:r>
            <a:endParaRPr/>
          </a:p>
          <a:p>
            <a:pPr indent="0" lvl="0" marL="0" rtl="0" algn="l">
              <a:spcBef>
                <a:spcPts val="0"/>
              </a:spcBef>
              <a:spcAft>
                <a:spcPts val="0"/>
              </a:spcAft>
              <a:buNone/>
            </a:pPr>
            <a:r>
              <a:rPr lang="en"/>
              <a:t>Homebuyers would want to know what factors affect the price of a house to help determine what kinds of houses could fit their budget.</a:t>
            </a:r>
            <a:endParaRPr/>
          </a:p>
          <a:p>
            <a:pPr indent="0" lvl="0" marL="0" rtl="0" algn="l">
              <a:spcBef>
                <a:spcPts val="0"/>
              </a:spcBef>
              <a:spcAft>
                <a:spcPts val="0"/>
              </a:spcAft>
              <a:buNone/>
            </a:pPr>
            <a:r>
              <a:rPr lang="en"/>
              <a:t>Realtors would want to know the same as both the homeowners and homebuyers to be able to assist them professionally.</a:t>
            </a:r>
            <a:endParaRPr/>
          </a:p>
          <a:p>
            <a:pPr indent="0" lvl="0" marL="0" rtl="0" algn="l">
              <a:spcBef>
                <a:spcPts val="0"/>
              </a:spcBef>
              <a:spcAft>
                <a:spcPts val="0"/>
              </a:spcAft>
              <a:buNone/>
            </a:pPr>
            <a:r>
              <a:rPr lang="en"/>
              <a:t>Property Appraisers will want to know how to value a house from year to year based on comparable houses.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5c58a31e9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5c58a31e9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Housing prices have lots of factors. Size of housing supply. Size of the house and lot. Style of construction. Location, location, location. Most people looking to buy a house start with the budget they think they can handle, then look for a house that meets their needs, hoping the house of their dreams is in their price range.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number of bedrooms and bathrooms can be a concern for a new couple looking to start a family or a couple of empty-nesters looking to downsize.</a:t>
            </a:r>
            <a:endParaRPr/>
          </a:p>
          <a:p>
            <a:pPr indent="0" lvl="0" marL="0" rtl="0" algn="l">
              <a:spcBef>
                <a:spcPts val="0"/>
              </a:spcBef>
              <a:spcAft>
                <a:spcPts val="0"/>
              </a:spcAft>
              <a:buNone/>
            </a:pPr>
            <a:r>
              <a:rPr lang="en"/>
              <a:t>Some people might prefer new construction while others will want a house that might needs some d-i-y fixing up.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5c58a31e9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5c58a31e9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looked for d</a:t>
            </a:r>
            <a:r>
              <a:rPr lang="en">
                <a:solidFill>
                  <a:schemeClr val="dk1"/>
                </a:solidFill>
              </a:rPr>
              <a:t>ata from a handful of locations. Dolthub, a version controlled database was the first spot I checked. It was mostly null values and not a lot of info about the house. The Pinellas County Property Appraiser’s Office was the main source for the dolthub data and much more data-rich, so I went to the source and used the Advanced Search to collect the data on all single family home sales in Pinellas county.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 looked at trying to collect recent house sales data from Zillow but the amount of collectable data was smaller than what I could get from the PCPAO. The only benefit that the Zillow data would of had is the # of bedrooms and bathrooms.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2f1c765b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52f1c765b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PCPAO has tons of information available through its advanced search. I focused on getting all transactions for single family homes.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5c58a31e9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5c58a31e9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output fields, I had 54 total fields that I though might be interesting and relevant.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5c58a31e9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5c58a31e9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ended up deleting a significant portion of the fields once I fully understood what they were. Some rows got renamed with values cleaned </a:t>
            </a:r>
            <a:r>
              <a:rPr lang="en"/>
              <a:t>up and condensed. At the end, prior to any preprocessing or dummy variable creation, I reduced all the data to this…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c58a31e9b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c58a31e9b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remaining columns are the one that I cared most about in EDA and brought to preprocessing.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2f1c765b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2f1c765b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each feature affects the price is complex. Many of the features earlier have an effect dependent on each other. Whether a house has a seawall depends heavily on its location being on the water and the size of the lot that the house is on. Whether a house has a pool can depend on the size of the lot. The construction of the house can depend on the age of the house. Older houses would not be built to the same code as newer houses, especially when near the coast. I mainly looked at how each feature affected the median price compared to the rest of the houses. The features that I take a look at are size, location, construction, and lot features.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ef28f65d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ef28f65d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how house size affects price is pretty straight forward. Running a linear regression on price versus total living space and total gross space gave slopes of $263 dollars per square foot of living space and $177 dollars per square foot of gross space. Using the medians of total living space and total gross space and the linear regression intercepts, the basic linear regression gave predicted prices for the median area houses of $368 thousand and $373 thousand dollars. The median price in the dataset was $335 thousand dollars, indicating that the linear regression based on just living space or gross space over estimated the price by 30-40 thousand dollars.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also found the median prices per square foot of </a:t>
            </a:r>
            <a:r>
              <a:rPr lang="en"/>
              <a:t>total</a:t>
            </a:r>
            <a:r>
              <a:rPr lang="en"/>
              <a:t> living space and total gross space to be $217 dollars and $157 dollars. Using the median areas for each, I found prices that were within $7 thousand dollars of the median price.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correlation of price to living sqft and gross sqft found both had a positive correlation of .66. The accuracy of the prices based on just using the mean or median price per square foot suggests that these values affect price the most.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ef28f65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5ef28f65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Median House Price: 335 thousand dollars.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stood out in exploring the median price of houses based on city, ordered by the number of sales is that the lower number of sales mostly </a:t>
            </a:r>
            <a:r>
              <a:rPr lang="en"/>
              <a:t>occurred</a:t>
            </a:r>
            <a:r>
              <a:rPr lang="en"/>
              <a:t> in beach towns and those towns had some of the most statistically significant differences in median house price. The lowest median price in any beach town was 389 thousand. The highest </a:t>
            </a:r>
            <a:r>
              <a:rPr lang="en"/>
              <a:t>median</a:t>
            </a:r>
            <a:r>
              <a:rPr lang="en"/>
              <a:t> price was 5.1 million. Just being in a beach town meant a minimum difference in median price of 50 thousand dollars.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15 beach towns also accounted for under 5000 total sales over 8 years or under 42 sales per city per year as compared to larger cities which had at minimum 200 sales per city per year.</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get this set of box plots, I found whether the median house price for a city was statistically significantly greater than the rest of the county using bootstrap replicates of the median house price based on the number of houses in each city.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ef28f65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5ef28f65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Median House Price: 335 thousand dollars.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Many zip codes had statistically significant medians. Unlike the city feature where the beach towns were the majority of the statistically significant features, the zip codes don’t have a clear pattern. It could be that they follow a similar pattern to the towns where zip codes that are on the water are the interesting zip codes, but without coloring a map, it is hard to say.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get this set of box plots, I found whether the median house price for a zip code was statistically significantly greater than the rest of the county using bootstrap replicates of the median house price based on the number of houses in each zip code.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ef28f65d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5ef28f65d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Median House Price: 335 thousand dollars.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Construction of a house had 8 features to consider. Some features I reduced down from multiple values to two or three based on percentages. For example in the Foundation feature, the ‘Continuous Poured Footing’ value represented 94% of houses, while ‘Other’ was originally 5 separate values. If two or three values described similar things, they were condensed into one value instead.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most common types of construction had the smallest positive or even negative effects on the median home price while rarer construction types typically had large positive effects on the median home price.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we can see that a house with a High slab above grade, meaning the house living space was raised high above the ground, generally had a price 1.4 million dollars more than the median house price of 335 thousand. The house having a hard tile/marble/wood floor finish was generally worth 800 thousand more than the median priced house.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ef28f65d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ef28f65d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Median House Price: 335 thousand dollars.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 patterns played out for interior finish, roof frame, and roof cover. A house that has an ‘upgrade’ wall interior finish is valued higher than the more common plaster/drywall interior finish house.</a:t>
            </a:r>
            <a:endParaRPr/>
          </a:p>
          <a:p>
            <a:pPr indent="0" lvl="0" marL="0" rtl="0" algn="l">
              <a:spcBef>
                <a:spcPts val="0"/>
              </a:spcBef>
              <a:spcAft>
                <a:spcPts val="0"/>
              </a:spcAft>
              <a:buNone/>
            </a:pPr>
            <a:r>
              <a:rPr lang="en"/>
              <a:t>Central cooling had an interesting if expected result. While the median value of a house with central cooling was 2000 more than the median price of all houses, if the house did NOT have central cooling, the median price was 160 thousand dollars less than the median of all houses.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ef28f65d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ef28f65d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Median House Price: 335 thousand dollars.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If a house was in EVAC_ZONE A, the median price difference was 205 thousand.</a:t>
            </a:r>
            <a:endParaRPr/>
          </a:p>
          <a:p>
            <a:pPr indent="0" lvl="0" marL="0" rtl="0" algn="l">
              <a:spcBef>
                <a:spcPts val="0"/>
              </a:spcBef>
              <a:spcAft>
                <a:spcPts val="0"/>
              </a:spcAft>
              <a:buNone/>
            </a:pPr>
            <a:r>
              <a:rPr lang="en"/>
              <a:t>If a house was on the waterfront, the median price difference was 555 thousand.</a:t>
            </a:r>
            <a:endParaRPr/>
          </a:p>
          <a:p>
            <a:pPr indent="0" lvl="0" marL="0" rtl="0" algn="l">
              <a:spcBef>
                <a:spcPts val="0"/>
              </a:spcBef>
              <a:spcAft>
                <a:spcPts val="0"/>
              </a:spcAft>
              <a:buNone/>
            </a:pPr>
            <a:r>
              <a:rPr lang="en"/>
              <a:t>If a house had a seawall, the median price difference was 570 thousand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60990905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60990905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Plenty of the feature values have a statistically significant affect on the median home price.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ef28f65d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ef28f65d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start preprocessing I imported the originally cleaned data and a new set of data. I had to complete come data wrangling to make sure that column names and column values matched, and that there were no values in the new set that were not in the original set. Then I split the datasets into the respective Xs and 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0990905f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60990905f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start preprocessing I imported the originally cleaned data and a new set of data. I had to complete come data wrangling to make sure that column names and column values matched, and that there were no values in the new set that were not in the original set. Then I split the datasets into the respective Xs and 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0990905f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0990905f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the numeric columns, except for effective age, I created power transformed values to deal with log scaling the values. Then the original numeric columns and the log-scaled columns were scaled with sci-kit learn’s standard scaler.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5ef28f65d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5ef28f65d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most of the categorical features, I reduced the number of values in each feature and one-hot encoded the remaining values. I generally opted to drop the most frequent value of each feature. After creating a one-hot encoder and transforming a column, I would create a new DataFrame that ohe data and column names and concatenate it with the earlier numerical features. This was </a:t>
            </a:r>
            <a:r>
              <a:rPr lang="en">
                <a:solidFill>
                  <a:schemeClr val="dk1"/>
                </a:solidFill>
              </a:rPr>
              <a:t>referred</a:t>
            </a:r>
            <a:r>
              <a:rPr lang="en">
                <a:solidFill>
                  <a:schemeClr val="dk1"/>
                </a:solidFill>
              </a:rPr>
              <a:t> to as the preprocessed DataFrames</a:t>
            </a:r>
            <a:endParaRPr>
              <a:solidFill>
                <a:schemeClr val="dk1"/>
              </a:solidFill>
            </a:endParaRPr>
          </a:p>
          <a:p>
            <a:pPr indent="0" lvl="0" marL="0" rtl="0" algn="l">
              <a:spcBef>
                <a:spcPts val="0"/>
              </a:spcBef>
              <a:spcAft>
                <a:spcPts val="0"/>
              </a:spcAft>
              <a:buNone/>
            </a:pPr>
            <a:r>
              <a:rPr lang="en">
                <a:solidFill>
                  <a:schemeClr val="dk1"/>
                </a:solidFill>
              </a:rPr>
              <a:t>For binary columns like Pool, Waterfront, Seawall, and Central Cooling, I checked to be sure that the resulting columns were properly named.</a:t>
            </a:r>
            <a:endParaRPr>
              <a:solidFill>
                <a:schemeClr val="dk1"/>
              </a:solidFill>
            </a:endParaRPr>
          </a:p>
          <a:p>
            <a:pPr indent="0" lvl="0" marL="0" rtl="0" algn="l">
              <a:spcBef>
                <a:spcPts val="0"/>
              </a:spcBef>
              <a:spcAft>
                <a:spcPts val="0"/>
              </a:spcAft>
              <a:buNone/>
            </a:pPr>
            <a:r>
              <a:rPr lang="en">
                <a:solidFill>
                  <a:schemeClr val="dk1"/>
                </a:solidFill>
              </a:rPr>
              <a:t>The only categorical features that were did not have a value dropped during encoding were city and zip.</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ef28f65d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ef28f65d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model selection, I started with creating a baseline using two Dummy Regressors. I decided to evaluate the model performance based on the Mean Absolute Percentage Error as the value could give me a sense of how far off an prediction is on average. A Mean Absolute Error would give a numerical dollar value for how far off the model is on average, which would stand out if a predicted value was near the same magnitude of the error.</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0990905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0990905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tried a couple more models: A Linear Regressor, a decision tree, a random forest, and a Histogram-Gradient Boosting Regressor.</a:t>
            </a:r>
            <a:endParaRPr>
              <a:solidFill>
                <a:schemeClr val="dk1"/>
              </a:solidFill>
            </a:endParaRPr>
          </a:p>
          <a:p>
            <a:pPr indent="0" lvl="0" marL="0" rtl="0" algn="l">
              <a:spcBef>
                <a:spcPts val="0"/>
              </a:spcBef>
              <a:spcAft>
                <a:spcPts val="0"/>
              </a:spcAft>
              <a:buNone/>
            </a:pPr>
            <a:r>
              <a:rPr lang="en">
                <a:solidFill>
                  <a:schemeClr val="dk1"/>
                </a:solidFill>
              </a:rPr>
              <a:t>All the models when tested on the training data beat the dummy regressor with a median strategy.</a:t>
            </a:r>
            <a:endParaRPr>
              <a:solidFill>
                <a:schemeClr val="dk1"/>
              </a:solidFill>
            </a:endParaRPr>
          </a:p>
          <a:p>
            <a:pPr indent="0" lvl="0" marL="0" rtl="0" algn="l">
              <a:spcBef>
                <a:spcPts val="0"/>
              </a:spcBef>
              <a:spcAft>
                <a:spcPts val="0"/>
              </a:spcAft>
              <a:buNone/>
            </a:pPr>
            <a:r>
              <a:rPr lang="en">
                <a:solidFill>
                  <a:schemeClr val="dk1"/>
                </a:solidFill>
              </a:rPr>
              <a:t>The Decision Tree and Random Forest regressors did over fit to the training data in the process, so their testing score was not as good as the HGB Regressor</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0990905f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60990905f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tried a couple more models: A Linear Regressor, a decision tree, a random forest, and a Histogram-Gradient Boosting Regressor.</a:t>
            </a:r>
            <a:endParaRPr>
              <a:solidFill>
                <a:schemeClr val="dk1"/>
              </a:solidFill>
            </a:endParaRPr>
          </a:p>
          <a:p>
            <a:pPr indent="0" lvl="0" marL="0" rtl="0" algn="l">
              <a:spcBef>
                <a:spcPts val="0"/>
              </a:spcBef>
              <a:spcAft>
                <a:spcPts val="0"/>
              </a:spcAft>
              <a:buNone/>
            </a:pPr>
            <a:r>
              <a:rPr lang="en">
                <a:solidFill>
                  <a:schemeClr val="dk1"/>
                </a:solidFill>
              </a:rPr>
              <a:t>All the models when tested on the training data beat the dummy regressor with a median strategy.</a:t>
            </a:r>
            <a:endParaRPr>
              <a:solidFill>
                <a:schemeClr val="dk1"/>
              </a:solidFill>
            </a:endParaRPr>
          </a:p>
          <a:p>
            <a:pPr indent="0" lvl="0" marL="0" rtl="0" algn="l">
              <a:spcBef>
                <a:spcPts val="0"/>
              </a:spcBef>
              <a:spcAft>
                <a:spcPts val="0"/>
              </a:spcAft>
              <a:buNone/>
            </a:pPr>
            <a:r>
              <a:rPr lang="en">
                <a:solidFill>
                  <a:schemeClr val="dk1"/>
                </a:solidFill>
              </a:rPr>
              <a:t>The Decision Tree and Random Forest regressors did over fit to the training data in the process, so their testing score was not as good as the HGB Regressor</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0990905f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0990905f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did check a pair of XGBoost models. The basic XGBoost Regressor performed as well as the HGB Regressor.</a:t>
            </a:r>
            <a:endParaRPr>
              <a:solidFill>
                <a:schemeClr val="dk1"/>
              </a:solidFill>
            </a:endParaRPr>
          </a:p>
          <a:p>
            <a:pPr indent="0" lvl="0" marL="0" rtl="0" algn="l">
              <a:spcBef>
                <a:spcPts val="0"/>
              </a:spcBef>
              <a:spcAft>
                <a:spcPts val="0"/>
              </a:spcAft>
              <a:buNone/>
            </a:pPr>
            <a:r>
              <a:rPr lang="en">
                <a:solidFill>
                  <a:schemeClr val="dk1"/>
                </a:solidFill>
              </a:rPr>
              <a:t>A XGBoost Random Forest Regressor did well, but not as well as HGB Regressor. I opted to just work with tuning the HGB_Regressor instead.</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0990905f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0990905f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ran 3 different cross validated randomized searches to find a good choice of parameters for the HGB_Regressor. I noticed that no model was performing on the testing set as well as it did on the training set. I decided to inspect why.</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60990905f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60990905f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feed the regressor different training and testing data based on what the true value was. I found that if the true value was between 0 and 500 thousand, the model’s MAPE spike on the test data but not on the training data. The other ranges had MAPE’s that were similar between training and testing data.</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60990905f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60990905f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similar test found that the HGB_Reg1 had similar MAPE’s for the true range of values from 50 thousand to 20 million. This led me to consider that I might have an outlier in the test set.</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0990905f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0990905f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pickled my model from earlier so that it was easier to reload. I concatenated the training and testing data, trained the model on the full dataset and imported an extra dataset that when through the same preprocessing as the train and test data. Now when I scored the model on the full data and the extra data, I found</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0990905f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60990905f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worst testing score I had seen and a training score worse than earlier. I suspected that the error was due to some $100 house prices in the datasets. When I scored the model based on the range of true values I found these results. The entire change in MAPE is trying to predict the $100 house.</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60990905f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60990905f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dropped the $100 prices and corresponding inputs-from the full dataset and the extra dataset. Upon doing so, the MAPEs for the model predicting both dataset improved.</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60990905f1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60990905f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Finally, we want to know “Can the model use our selected factors to predict a house’s price?”</a:t>
            </a:r>
            <a:br>
              <a:rPr lang="en">
                <a:solidFill>
                  <a:schemeClr val="dk1"/>
                </a:solidFill>
              </a:rPr>
            </a:br>
            <a:r>
              <a:rPr lang="en">
                <a:solidFill>
                  <a:schemeClr val="dk1"/>
                </a:solidFill>
              </a:rPr>
              <a:t>I queried the full dataset for </a:t>
            </a:r>
            <a:r>
              <a:rPr lang="en">
                <a:solidFill>
                  <a:schemeClr val="dk1"/>
                </a:solidFill>
              </a:rPr>
              <a:t>houses</a:t>
            </a:r>
            <a:r>
              <a:rPr lang="en">
                <a:solidFill>
                  <a:schemeClr val="dk1"/>
                </a:solidFill>
              </a:rPr>
              <a:t> similar to this house currently on the market. The dataset had 11 houses with similar lot area, living space, and location and lot features. Using the model to predict prices for those houses gave a higher median house price than the dataset’s true prices, but also gave a range which the current house’s asking price is within. The model was able to predict range of reasonable asking prices for the house.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60990905f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60990905f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5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40.png"/><Relationship Id="rId5" Type="http://schemas.openxmlformats.org/officeDocument/2006/relationships/image" Target="../media/image44.png"/><Relationship Id="rId6"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45.png"/><Relationship Id="rId5"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2.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1.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41.png"/><Relationship Id="rId5"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5.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Pinellas House Price Prediction</a:t>
            </a:r>
            <a:endParaRPr>
              <a:solidFill>
                <a:schemeClr val="lt1"/>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Spenser Johnson</a:t>
            </a:r>
            <a:endParaRPr>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What’s the house worth?</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Same number of bedrooms, bathrooms, and nearly the same area. Physically 1.5 miles apart. Why are the prices so different?</a:t>
            </a:r>
            <a:endParaRPr/>
          </a:p>
        </p:txBody>
      </p:sp>
      <p:pic>
        <p:nvPicPr>
          <p:cNvPr id="62" name="Google Shape;62;p14" title="House2.jpg"/>
          <p:cNvPicPr preferRelativeResize="0"/>
          <p:nvPr/>
        </p:nvPicPr>
        <p:blipFill>
          <a:blip r:embed="rId3">
            <a:alphaModFix/>
          </a:blip>
          <a:stretch>
            <a:fillRect/>
          </a:stretch>
        </p:blipFill>
        <p:spPr>
          <a:xfrm>
            <a:off x="4571988" y="1925675"/>
            <a:ext cx="3343275" cy="2628900"/>
          </a:xfrm>
          <a:prstGeom prst="rect">
            <a:avLst/>
          </a:prstGeom>
          <a:noFill/>
          <a:ln>
            <a:noFill/>
          </a:ln>
        </p:spPr>
      </p:pic>
      <p:pic>
        <p:nvPicPr>
          <p:cNvPr id="63" name="Google Shape;63;p14" title="House1.jpg"/>
          <p:cNvPicPr preferRelativeResize="0"/>
          <p:nvPr/>
        </p:nvPicPr>
        <p:blipFill>
          <a:blip r:embed="rId4">
            <a:alphaModFix/>
          </a:blip>
          <a:stretch>
            <a:fillRect/>
          </a:stretch>
        </p:blipFill>
        <p:spPr>
          <a:xfrm>
            <a:off x="311688" y="1911388"/>
            <a:ext cx="3305175" cy="2657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What’s the house worth?</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One house has two extra bedrooms, and extra bathroom, and 900 more square feet. They are 1000 ft apart. Why are the prices so similar?</a:t>
            </a:r>
            <a:endParaRPr/>
          </a:p>
        </p:txBody>
      </p:sp>
      <p:pic>
        <p:nvPicPr>
          <p:cNvPr id="70" name="Google Shape;70;p15" title="House4.jpg"/>
          <p:cNvPicPr preferRelativeResize="0"/>
          <p:nvPr/>
        </p:nvPicPr>
        <p:blipFill rotWithShape="1">
          <a:blip r:embed="rId3">
            <a:alphaModFix/>
          </a:blip>
          <a:srcRect b="1361" l="0" r="0" t="1371"/>
          <a:stretch/>
        </p:blipFill>
        <p:spPr>
          <a:xfrm>
            <a:off x="4292263" y="1166763"/>
            <a:ext cx="3343275" cy="2628900"/>
          </a:xfrm>
          <a:prstGeom prst="rect">
            <a:avLst/>
          </a:prstGeom>
          <a:noFill/>
          <a:ln>
            <a:noFill/>
          </a:ln>
        </p:spPr>
      </p:pic>
      <p:pic>
        <p:nvPicPr>
          <p:cNvPr id="71" name="Google Shape;71;p15" title="House3.jpg"/>
          <p:cNvPicPr preferRelativeResize="0"/>
          <p:nvPr/>
        </p:nvPicPr>
        <p:blipFill rotWithShape="1">
          <a:blip r:embed="rId4">
            <a:alphaModFix/>
          </a:blip>
          <a:srcRect b="199" l="0" r="0" t="199"/>
          <a:stretch/>
        </p:blipFill>
        <p:spPr>
          <a:xfrm>
            <a:off x="311688" y="1152463"/>
            <a:ext cx="3305175" cy="2657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What’s the house worth?</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What factors drive the differences in house prices?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Can those factors be used to predict house prices?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What’s the house worth?</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Who should care about this?</a:t>
            </a:r>
            <a:endParaRPr/>
          </a:p>
          <a:p>
            <a:pPr indent="-342900" lvl="0" marL="457200" rtl="0" algn="l">
              <a:spcBef>
                <a:spcPts val="1200"/>
              </a:spcBef>
              <a:spcAft>
                <a:spcPts val="0"/>
              </a:spcAft>
              <a:buSzPts val="1800"/>
              <a:buChar char="●"/>
            </a:pPr>
            <a:r>
              <a:rPr lang="en"/>
              <a:t>Homeowners</a:t>
            </a:r>
            <a:endParaRPr/>
          </a:p>
          <a:p>
            <a:pPr indent="-342900" lvl="0" marL="457200" rtl="0" algn="l">
              <a:spcBef>
                <a:spcPts val="0"/>
              </a:spcBef>
              <a:spcAft>
                <a:spcPts val="0"/>
              </a:spcAft>
              <a:buSzPts val="1800"/>
              <a:buChar char="●"/>
            </a:pPr>
            <a:r>
              <a:rPr lang="en"/>
              <a:t>Homebuyers</a:t>
            </a:r>
            <a:endParaRPr/>
          </a:p>
          <a:p>
            <a:pPr indent="-342900" lvl="0" marL="457200" rtl="0" algn="l">
              <a:spcBef>
                <a:spcPts val="0"/>
              </a:spcBef>
              <a:spcAft>
                <a:spcPts val="0"/>
              </a:spcAft>
              <a:buSzPts val="1800"/>
              <a:buChar char="●"/>
            </a:pPr>
            <a:r>
              <a:rPr lang="en"/>
              <a:t>Realtors</a:t>
            </a:r>
            <a:endParaRPr/>
          </a:p>
          <a:p>
            <a:pPr indent="-342900" lvl="0" marL="457200" rtl="0" algn="l">
              <a:spcBef>
                <a:spcPts val="0"/>
              </a:spcBef>
              <a:spcAft>
                <a:spcPts val="0"/>
              </a:spcAft>
              <a:buSzPts val="1800"/>
              <a:buChar char="●"/>
            </a:pPr>
            <a:r>
              <a:rPr lang="en"/>
              <a:t>Property Appraisers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a:t>
            </a:r>
            <a:endParaRPr/>
          </a:p>
          <a:p>
            <a:pPr indent="457200" lvl="0" marL="0" rtl="0" algn="l">
              <a:spcBef>
                <a:spcPts val="0"/>
              </a:spcBef>
              <a:spcAft>
                <a:spcPts val="0"/>
              </a:spcAft>
              <a:buNone/>
            </a:pPr>
            <a:r>
              <a:rPr lang="en"/>
              <a:t>Factors that could have an effect</a:t>
            </a:r>
            <a:endParaRPr/>
          </a:p>
        </p:txBody>
      </p:sp>
      <p:sp>
        <p:nvSpPr>
          <p:cNvPr id="89" name="Google Shape;89;p18"/>
          <p:cNvSpPr txBox="1"/>
          <p:nvPr>
            <p:ph idx="1" type="body"/>
          </p:nvPr>
        </p:nvSpPr>
        <p:spPr>
          <a:xfrm>
            <a:off x="311700" y="1152475"/>
            <a:ext cx="35592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n"/>
              <a:t>Amount of supply</a:t>
            </a:r>
            <a:endParaRPr/>
          </a:p>
          <a:p>
            <a:pPr indent="-342900" lvl="0" marL="457200" rtl="0" algn="l">
              <a:spcBef>
                <a:spcPts val="0"/>
              </a:spcBef>
              <a:spcAft>
                <a:spcPts val="0"/>
              </a:spcAft>
              <a:buSzPts val="1800"/>
              <a:buChar char="●"/>
            </a:pPr>
            <a:r>
              <a:rPr lang="en"/>
              <a:t>Size of the house/lot</a:t>
            </a:r>
            <a:endParaRPr/>
          </a:p>
          <a:p>
            <a:pPr indent="-342900" lvl="0" marL="457200" rtl="0" algn="l">
              <a:spcBef>
                <a:spcPts val="0"/>
              </a:spcBef>
              <a:spcAft>
                <a:spcPts val="0"/>
              </a:spcAft>
              <a:buSzPts val="1800"/>
              <a:buChar char="●"/>
            </a:pPr>
            <a:r>
              <a:rPr lang="en"/>
              <a:t>Style of the house</a:t>
            </a:r>
            <a:endParaRPr/>
          </a:p>
          <a:p>
            <a:pPr indent="-342900" lvl="0" marL="457200" rtl="0" algn="l">
              <a:spcBef>
                <a:spcPts val="0"/>
              </a:spcBef>
              <a:spcAft>
                <a:spcPts val="0"/>
              </a:spcAft>
              <a:buSzPts val="1800"/>
              <a:buChar char="●"/>
            </a:pPr>
            <a:r>
              <a:rPr lang="en"/>
              <a:t>Location</a:t>
            </a:r>
            <a:endParaRPr/>
          </a:p>
          <a:p>
            <a:pPr indent="-342900" lvl="0" marL="457200" rtl="0" algn="l">
              <a:spcBef>
                <a:spcPts val="0"/>
              </a:spcBef>
              <a:spcAft>
                <a:spcPts val="0"/>
              </a:spcAft>
              <a:buSzPts val="1800"/>
              <a:buChar char="●"/>
            </a:pPr>
            <a:r>
              <a:rPr lang="en"/>
              <a:t># of beds/baths</a:t>
            </a:r>
            <a:endParaRPr/>
          </a:p>
          <a:p>
            <a:pPr indent="-342900" lvl="0" marL="457200" rtl="0" algn="l">
              <a:spcBef>
                <a:spcPts val="0"/>
              </a:spcBef>
              <a:spcAft>
                <a:spcPts val="0"/>
              </a:spcAft>
              <a:buSzPts val="1800"/>
              <a:buChar char="●"/>
            </a:pPr>
            <a:r>
              <a:rPr lang="en"/>
              <a:t>Age of the house</a:t>
            </a:r>
            <a:endParaRPr/>
          </a:p>
          <a:p>
            <a:pPr indent="-342900" lvl="0" marL="457200" rtl="0" algn="l">
              <a:spcBef>
                <a:spcPts val="0"/>
              </a:spcBef>
              <a:spcAft>
                <a:spcPts val="0"/>
              </a:spcAft>
              <a:buSzPts val="1800"/>
              <a:buChar char="●"/>
            </a:pPr>
            <a:r>
              <a:rPr lang="en"/>
              <a:t>Additional work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a:t>
            </a:r>
            <a:endParaRPr/>
          </a:p>
          <a:p>
            <a:pPr indent="457200" lvl="0" marL="0" rtl="0" algn="l">
              <a:spcBef>
                <a:spcPts val="0"/>
              </a:spcBef>
              <a:spcAft>
                <a:spcPts val="0"/>
              </a:spcAft>
              <a:buNone/>
            </a:pPr>
            <a:r>
              <a:rPr lang="en"/>
              <a:t>Factors that could have an effect</a:t>
            </a:r>
            <a:endParaRPr/>
          </a:p>
        </p:txBody>
      </p:sp>
      <p:sp>
        <p:nvSpPr>
          <p:cNvPr id="95" name="Google Shape;95;p19"/>
          <p:cNvSpPr txBox="1"/>
          <p:nvPr>
            <p:ph idx="1" type="body"/>
          </p:nvPr>
        </p:nvSpPr>
        <p:spPr>
          <a:xfrm>
            <a:off x="311700" y="1152475"/>
            <a:ext cx="3559200" cy="290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n"/>
              <a:t>Amount of supply</a:t>
            </a:r>
            <a:endParaRPr/>
          </a:p>
          <a:p>
            <a:pPr indent="-342900" lvl="0" marL="457200" rtl="0" algn="l">
              <a:spcBef>
                <a:spcPts val="0"/>
              </a:spcBef>
              <a:spcAft>
                <a:spcPts val="0"/>
              </a:spcAft>
              <a:buSzPts val="1800"/>
              <a:buChar char="●"/>
            </a:pPr>
            <a:r>
              <a:rPr b="1" lang="en"/>
              <a:t>Size of the house/lot</a:t>
            </a:r>
            <a:endParaRPr b="1"/>
          </a:p>
          <a:p>
            <a:pPr indent="-342900" lvl="0" marL="457200" rtl="0" algn="l">
              <a:spcBef>
                <a:spcPts val="0"/>
              </a:spcBef>
              <a:spcAft>
                <a:spcPts val="0"/>
              </a:spcAft>
              <a:buSzPts val="1800"/>
              <a:buChar char="●"/>
            </a:pPr>
            <a:r>
              <a:rPr b="1" lang="en"/>
              <a:t>Style of the house</a:t>
            </a:r>
            <a:endParaRPr b="1"/>
          </a:p>
          <a:p>
            <a:pPr indent="-342900" lvl="0" marL="457200" rtl="0" algn="l">
              <a:spcBef>
                <a:spcPts val="0"/>
              </a:spcBef>
              <a:spcAft>
                <a:spcPts val="0"/>
              </a:spcAft>
              <a:buSzPts val="1800"/>
              <a:buChar char="●"/>
            </a:pPr>
            <a:r>
              <a:rPr b="1" lang="en"/>
              <a:t>Location</a:t>
            </a:r>
            <a:endParaRPr b="1"/>
          </a:p>
          <a:p>
            <a:pPr indent="-342900" lvl="0" marL="457200" rtl="0" algn="l">
              <a:spcBef>
                <a:spcPts val="0"/>
              </a:spcBef>
              <a:spcAft>
                <a:spcPts val="0"/>
              </a:spcAft>
              <a:buSzPts val="1800"/>
              <a:buChar char="●"/>
            </a:pPr>
            <a:r>
              <a:rPr lang="en"/>
              <a:t># of beds/baths</a:t>
            </a:r>
            <a:endParaRPr/>
          </a:p>
          <a:p>
            <a:pPr indent="-342900" lvl="0" marL="457200" rtl="0" algn="l">
              <a:spcBef>
                <a:spcPts val="0"/>
              </a:spcBef>
              <a:spcAft>
                <a:spcPts val="0"/>
              </a:spcAft>
              <a:buSzPts val="1800"/>
              <a:buChar char="●"/>
            </a:pPr>
            <a:r>
              <a:rPr b="1" lang="en"/>
              <a:t>Age of the house</a:t>
            </a:r>
            <a:endParaRPr b="1"/>
          </a:p>
          <a:p>
            <a:pPr indent="-342900" lvl="0" marL="457200" rtl="0" algn="l">
              <a:spcBef>
                <a:spcPts val="0"/>
              </a:spcBef>
              <a:spcAft>
                <a:spcPts val="0"/>
              </a:spcAft>
              <a:buSzPts val="1800"/>
              <a:buChar char="●"/>
            </a:pPr>
            <a:r>
              <a:rPr b="1" lang="en"/>
              <a:t>Additional work</a:t>
            </a:r>
            <a:endParaRPr b="1"/>
          </a:p>
        </p:txBody>
      </p:sp>
      <p:sp>
        <p:nvSpPr>
          <p:cNvPr id="96" name="Google Shape;96;p19"/>
          <p:cNvSpPr txBox="1"/>
          <p:nvPr/>
        </p:nvSpPr>
        <p:spPr>
          <a:xfrm>
            <a:off x="4305925" y="1661425"/>
            <a:ext cx="3201000" cy="2160000"/>
          </a:xfrm>
          <a:prstGeom prst="rect">
            <a:avLst/>
          </a:prstGeom>
          <a:noFill/>
          <a:ln cap="flat" cmpd="sng" w="2857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D</a:t>
            </a:r>
            <a:r>
              <a:rPr lang="en" sz="1800">
                <a:solidFill>
                  <a:schemeClr val="lt2"/>
                </a:solidFill>
              </a:rPr>
              <a:t>ata collected from </a:t>
            </a:r>
            <a:r>
              <a:rPr lang="en" sz="1800">
                <a:solidFill>
                  <a:schemeClr val="lt2"/>
                </a:solidFill>
              </a:rPr>
              <a:t>Pinellas County Property Appraiser’s Office(PCPAO)</a:t>
            </a:r>
            <a:endParaRPr sz="1800">
              <a:solidFill>
                <a:schemeClr val="lt2"/>
              </a:solidFill>
            </a:endParaRPr>
          </a:p>
          <a:p>
            <a:pPr indent="0" lvl="0" marL="0" rtl="0" algn="l">
              <a:spcBef>
                <a:spcPts val="0"/>
              </a:spcBef>
              <a:spcAft>
                <a:spcPts val="0"/>
              </a:spcAft>
              <a:buNone/>
            </a:pPr>
            <a:r>
              <a:t/>
            </a:r>
            <a:endParaRPr sz="1800">
              <a:solidFill>
                <a:schemeClr val="lt2"/>
              </a:solidFill>
            </a:endParaRPr>
          </a:p>
        </p:txBody>
      </p:sp>
      <p:cxnSp>
        <p:nvCxnSpPr>
          <p:cNvPr id="97" name="Google Shape;97;p19"/>
          <p:cNvCxnSpPr/>
          <p:nvPr/>
        </p:nvCxnSpPr>
        <p:spPr>
          <a:xfrm flipH="1">
            <a:off x="3171625" y="1883475"/>
            <a:ext cx="1134300" cy="233100"/>
          </a:xfrm>
          <a:prstGeom prst="straightConnector1">
            <a:avLst/>
          </a:prstGeom>
          <a:noFill/>
          <a:ln cap="flat" cmpd="sng" w="28575">
            <a:solidFill>
              <a:schemeClr val="lt2"/>
            </a:solidFill>
            <a:prstDash val="solid"/>
            <a:round/>
            <a:headEnd len="med" w="med" type="none"/>
            <a:tailEnd len="med" w="med" type="oval"/>
          </a:ln>
        </p:spPr>
      </p:cxnSp>
      <p:cxnSp>
        <p:nvCxnSpPr>
          <p:cNvPr id="98" name="Google Shape;98;p19"/>
          <p:cNvCxnSpPr/>
          <p:nvPr/>
        </p:nvCxnSpPr>
        <p:spPr>
          <a:xfrm flipH="1">
            <a:off x="2969425" y="1883475"/>
            <a:ext cx="1336500" cy="606000"/>
          </a:xfrm>
          <a:prstGeom prst="straightConnector1">
            <a:avLst/>
          </a:prstGeom>
          <a:noFill/>
          <a:ln cap="flat" cmpd="sng" w="28575">
            <a:solidFill>
              <a:schemeClr val="lt2"/>
            </a:solidFill>
            <a:prstDash val="solid"/>
            <a:round/>
            <a:headEnd len="med" w="med" type="none"/>
            <a:tailEnd len="med" w="med" type="oval"/>
          </a:ln>
        </p:spPr>
      </p:cxnSp>
      <p:cxnSp>
        <p:nvCxnSpPr>
          <p:cNvPr id="99" name="Google Shape;99;p19"/>
          <p:cNvCxnSpPr/>
          <p:nvPr/>
        </p:nvCxnSpPr>
        <p:spPr>
          <a:xfrm flipH="1">
            <a:off x="2829625" y="1883475"/>
            <a:ext cx="1476300" cy="932400"/>
          </a:xfrm>
          <a:prstGeom prst="straightConnector1">
            <a:avLst/>
          </a:prstGeom>
          <a:noFill/>
          <a:ln cap="flat" cmpd="sng" w="28575">
            <a:solidFill>
              <a:schemeClr val="lt2"/>
            </a:solidFill>
            <a:prstDash val="solid"/>
            <a:round/>
            <a:headEnd len="med" w="med" type="none"/>
            <a:tailEnd len="med" w="med" type="oval"/>
          </a:ln>
        </p:spPr>
      </p:cxnSp>
      <p:cxnSp>
        <p:nvCxnSpPr>
          <p:cNvPr id="100" name="Google Shape;100;p19"/>
          <p:cNvCxnSpPr/>
          <p:nvPr/>
        </p:nvCxnSpPr>
        <p:spPr>
          <a:xfrm flipH="1">
            <a:off x="2829625" y="1899025"/>
            <a:ext cx="1476300" cy="1476300"/>
          </a:xfrm>
          <a:prstGeom prst="straightConnector1">
            <a:avLst/>
          </a:prstGeom>
          <a:noFill/>
          <a:ln cap="flat" cmpd="sng" w="28575">
            <a:solidFill>
              <a:schemeClr val="lt2"/>
            </a:solidFill>
            <a:prstDash val="solid"/>
            <a:round/>
            <a:headEnd len="med" w="med" type="none"/>
            <a:tailEnd len="med" w="med" type="oval"/>
          </a:ln>
        </p:spPr>
      </p:cxnSp>
      <p:cxnSp>
        <p:nvCxnSpPr>
          <p:cNvPr id="101" name="Google Shape;101;p19"/>
          <p:cNvCxnSpPr/>
          <p:nvPr/>
        </p:nvCxnSpPr>
        <p:spPr>
          <a:xfrm flipH="1">
            <a:off x="2798725" y="1899025"/>
            <a:ext cx="1507200" cy="1849200"/>
          </a:xfrm>
          <a:prstGeom prst="straightConnector1">
            <a:avLst/>
          </a:prstGeom>
          <a:noFill/>
          <a:ln cap="flat" cmpd="sng" w="28575">
            <a:solidFill>
              <a:schemeClr val="lt2"/>
            </a:solidFill>
            <a:prstDash val="solid"/>
            <a:round/>
            <a:headEnd len="med" w="med" type="none"/>
            <a:tailEnd len="med" w="med" type="oval"/>
          </a:ln>
        </p:spPr>
      </p:cxnSp>
      <p:pic>
        <p:nvPicPr>
          <p:cNvPr id="102" name="Google Shape;102;p19"/>
          <p:cNvPicPr preferRelativeResize="0"/>
          <p:nvPr/>
        </p:nvPicPr>
        <p:blipFill>
          <a:blip r:embed="rId3">
            <a:alphaModFix/>
          </a:blip>
          <a:stretch>
            <a:fillRect/>
          </a:stretch>
        </p:blipFill>
        <p:spPr>
          <a:xfrm>
            <a:off x="1131375" y="4385088"/>
            <a:ext cx="1226403" cy="218027"/>
          </a:xfrm>
          <a:prstGeom prst="rect">
            <a:avLst/>
          </a:prstGeom>
          <a:noFill/>
          <a:ln>
            <a:noFill/>
          </a:ln>
        </p:spPr>
      </p:pic>
      <p:sp>
        <p:nvSpPr>
          <p:cNvPr id="103" name="Google Shape;103;p19"/>
          <p:cNvSpPr/>
          <p:nvPr/>
        </p:nvSpPr>
        <p:spPr>
          <a:xfrm>
            <a:off x="4212700" y="4027900"/>
            <a:ext cx="3788400" cy="93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4" name="Google Shape;104;p19"/>
          <p:cNvPicPr preferRelativeResize="0"/>
          <p:nvPr/>
        </p:nvPicPr>
        <p:blipFill>
          <a:blip r:embed="rId4">
            <a:alphaModFix/>
          </a:blip>
          <a:stretch>
            <a:fillRect/>
          </a:stretch>
        </p:blipFill>
        <p:spPr>
          <a:xfrm>
            <a:off x="4305925" y="4058875"/>
            <a:ext cx="3695307" cy="779825"/>
          </a:xfrm>
          <a:prstGeom prst="rect">
            <a:avLst/>
          </a:prstGeom>
          <a:noFill/>
          <a:ln>
            <a:noFill/>
          </a:ln>
        </p:spPr>
      </p:pic>
      <p:sp>
        <p:nvSpPr>
          <p:cNvPr id="105" name="Google Shape;105;p19"/>
          <p:cNvSpPr/>
          <p:nvPr/>
        </p:nvSpPr>
        <p:spPr>
          <a:xfrm>
            <a:off x="2829700" y="4260975"/>
            <a:ext cx="1041300" cy="4197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a:t>
            </a:r>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Advanced Search Parameters on the PCPAO website:</a:t>
            </a:r>
            <a:endParaRPr/>
          </a:p>
          <a:p>
            <a:pPr indent="-342900" lvl="0" marL="457200" rtl="0" algn="l">
              <a:spcBef>
                <a:spcPts val="1200"/>
              </a:spcBef>
              <a:spcAft>
                <a:spcPts val="0"/>
              </a:spcAft>
              <a:buSzPts val="1800"/>
              <a:buChar char="●"/>
            </a:pPr>
            <a:r>
              <a:rPr lang="en"/>
              <a:t>Property Type: 0110-Single Family Homes</a:t>
            </a:r>
            <a:endParaRPr/>
          </a:p>
          <a:p>
            <a:pPr indent="-342900" lvl="0" marL="457200" rtl="0" algn="l">
              <a:spcBef>
                <a:spcPts val="0"/>
              </a:spcBef>
              <a:spcAft>
                <a:spcPts val="0"/>
              </a:spcAft>
              <a:buSzPts val="1800"/>
              <a:buChar char="●"/>
            </a:pPr>
            <a:r>
              <a:rPr lang="en"/>
              <a:t>Transactions: All sales</a:t>
            </a:r>
            <a:endParaRPr/>
          </a:p>
          <a:p>
            <a:pPr indent="0" lvl="0" marL="0" rtl="0" algn="l">
              <a:spcBef>
                <a:spcPts val="1200"/>
              </a:spcBef>
              <a:spcAft>
                <a:spcPts val="0"/>
              </a:spcAft>
              <a:buNone/>
            </a:pPr>
            <a:r>
              <a:rPr lang="en"/>
              <a:t>Advanced Search Output Fields:</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a:t>
            </a:r>
            <a:endParaRPr/>
          </a:p>
        </p:txBody>
      </p:sp>
      <p:sp>
        <p:nvSpPr>
          <p:cNvPr id="117" name="Google Shape;117;p21"/>
          <p:cNvSpPr txBox="1"/>
          <p:nvPr>
            <p:ph idx="1" type="body"/>
          </p:nvPr>
        </p:nvSpPr>
        <p:spPr>
          <a:xfrm>
            <a:off x="311700" y="1152475"/>
            <a:ext cx="8520600" cy="171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Advanced Search Parameters on the PCPAO website:</a:t>
            </a:r>
            <a:endParaRPr/>
          </a:p>
          <a:p>
            <a:pPr indent="-342900" lvl="0" marL="457200" rtl="0" algn="l">
              <a:spcBef>
                <a:spcPts val="1200"/>
              </a:spcBef>
              <a:spcAft>
                <a:spcPts val="0"/>
              </a:spcAft>
              <a:buSzPts val="1800"/>
              <a:buChar char="●"/>
            </a:pPr>
            <a:r>
              <a:rPr lang="en"/>
              <a:t>Property Type: 0110-Single Family Homes</a:t>
            </a:r>
            <a:endParaRPr/>
          </a:p>
          <a:p>
            <a:pPr indent="-342900" lvl="0" marL="457200" rtl="0" algn="l">
              <a:spcBef>
                <a:spcPts val="0"/>
              </a:spcBef>
              <a:spcAft>
                <a:spcPts val="0"/>
              </a:spcAft>
              <a:buSzPts val="1800"/>
              <a:buChar char="●"/>
            </a:pPr>
            <a:r>
              <a:rPr lang="en"/>
              <a:t>Transactions: All sales</a:t>
            </a:r>
            <a:endParaRPr/>
          </a:p>
          <a:p>
            <a:pPr indent="0" lvl="0" marL="0" rtl="0" algn="l">
              <a:spcBef>
                <a:spcPts val="1200"/>
              </a:spcBef>
              <a:spcAft>
                <a:spcPts val="1200"/>
              </a:spcAft>
              <a:buNone/>
            </a:pPr>
            <a:r>
              <a:rPr lang="en"/>
              <a:t>Advanced Search Output Fields: 54 total fields, 1.2 million rows.</a:t>
            </a:r>
            <a:endParaRPr/>
          </a:p>
        </p:txBody>
      </p:sp>
      <p:pic>
        <p:nvPicPr>
          <p:cNvPr id="118" name="Google Shape;118;p21"/>
          <p:cNvPicPr preferRelativeResize="0"/>
          <p:nvPr/>
        </p:nvPicPr>
        <p:blipFill>
          <a:blip r:embed="rId3">
            <a:alphaModFix/>
          </a:blip>
          <a:stretch>
            <a:fillRect/>
          </a:stretch>
        </p:blipFill>
        <p:spPr>
          <a:xfrm>
            <a:off x="230438" y="2997225"/>
            <a:ext cx="1382520" cy="1704975"/>
          </a:xfrm>
          <a:prstGeom prst="rect">
            <a:avLst/>
          </a:prstGeom>
          <a:noFill/>
          <a:ln>
            <a:noFill/>
          </a:ln>
        </p:spPr>
      </p:pic>
      <p:pic>
        <p:nvPicPr>
          <p:cNvPr id="119" name="Google Shape;119;p21"/>
          <p:cNvPicPr preferRelativeResize="0"/>
          <p:nvPr/>
        </p:nvPicPr>
        <p:blipFill>
          <a:blip r:embed="rId4">
            <a:alphaModFix/>
          </a:blip>
          <a:stretch>
            <a:fillRect/>
          </a:stretch>
        </p:blipFill>
        <p:spPr>
          <a:xfrm>
            <a:off x="1762419" y="3014875"/>
            <a:ext cx="1485275" cy="1638300"/>
          </a:xfrm>
          <a:prstGeom prst="rect">
            <a:avLst/>
          </a:prstGeom>
          <a:noFill/>
          <a:ln>
            <a:noFill/>
          </a:ln>
        </p:spPr>
      </p:pic>
      <p:pic>
        <p:nvPicPr>
          <p:cNvPr id="120" name="Google Shape;120;p21"/>
          <p:cNvPicPr preferRelativeResize="0"/>
          <p:nvPr/>
        </p:nvPicPr>
        <p:blipFill>
          <a:blip r:embed="rId5">
            <a:alphaModFix/>
          </a:blip>
          <a:stretch>
            <a:fillRect/>
          </a:stretch>
        </p:blipFill>
        <p:spPr>
          <a:xfrm>
            <a:off x="3397156" y="3014875"/>
            <a:ext cx="1485275" cy="1676400"/>
          </a:xfrm>
          <a:prstGeom prst="rect">
            <a:avLst/>
          </a:prstGeom>
          <a:noFill/>
          <a:ln>
            <a:noFill/>
          </a:ln>
        </p:spPr>
      </p:pic>
      <p:pic>
        <p:nvPicPr>
          <p:cNvPr id="121" name="Google Shape;121;p21"/>
          <p:cNvPicPr preferRelativeResize="0"/>
          <p:nvPr/>
        </p:nvPicPr>
        <p:blipFill>
          <a:blip r:embed="rId6">
            <a:alphaModFix/>
          </a:blip>
          <a:stretch>
            <a:fillRect/>
          </a:stretch>
        </p:blipFill>
        <p:spPr>
          <a:xfrm>
            <a:off x="5031893" y="3014875"/>
            <a:ext cx="1270424" cy="1619250"/>
          </a:xfrm>
          <a:prstGeom prst="rect">
            <a:avLst/>
          </a:prstGeom>
          <a:noFill/>
          <a:ln>
            <a:noFill/>
          </a:ln>
        </p:spPr>
      </p:pic>
      <p:pic>
        <p:nvPicPr>
          <p:cNvPr id="122" name="Google Shape;122;p21"/>
          <p:cNvPicPr preferRelativeResize="0"/>
          <p:nvPr/>
        </p:nvPicPr>
        <p:blipFill>
          <a:blip r:embed="rId7">
            <a:alphaModFix/>
          </a:blip>
          <a:stretch>
            <a:fillRect/>
          </a:stretch>
        </p:blipFill>
        <p:spPr>
          <a:xfrm>
            <a:off x="6451779" y="3014875"/>
            <a:ext cx="1233059" cy="1647825"/>
          </a:xfrm>
          <a:prstGeom prst="rect">
            <a:avLst/>
          </a:prstGeom>
          <a:noFill/>
          <a:ln>
            <a:noFill/>
          </a:ln>
        </p:spPr>
      </p:pic>
      <p:pic>
        <p:nvPicPr>
          <p:cNvPr id="123" name="Google Shape;123;p21"/>
          <p:cNvPicPr preferRelativeResize="0"/>
          <p:nvPr/>
        </p:nvPicPr>
        <p:blipFill>
          <a:blip r:embed="rId8">
            <a:alphaModFix/>
          </a:blip>
          <a:stretch>
            <a:fillRect/>
          </a:stretch>
        </p:blipFill>
        <p:spPr>
          <a:xfrm>
            <a:off x="7837237" y="3014875"/>
            <a:ext cx="1076325" cy="65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a:t>
            </a:r>
            <a:endParaRPr/>
          </a:p>
        </p:txBody>
      </p:sp>
      <p:pic>
        <p:nvPicPr>
          <p:cNvPr id="129" name="Google Shape;129;p22"/>
          <p:cNvPicPr preferRelativeResize="0"/>
          <p:nvPr/>
        </p:nvPicPr>
        <p:blipFill>
          <a:blip r:embed="rId3">
            <a:alphaModFix/>
          </a:blip>
          <a:stretch>
            <a:fillRect/>
          </a:stretch>
        </p:blipFill>
        <p:spPr>
          <a:xfrm>
            <a:off x="230438" y="1179150"/>
            <a:ext cx="1382520" cy="1704975"/>
          </a:xfrm>
          <a:prstGeom prst="rect">
            <a:avLst/>
          </a:prstGeom>
          <a:noFill/>
          <a:ln>
            <a:noFill/>
          </a:ln>
        </p:spPr>
      </p:pic>
      <p:pic>
        <p:nvPicPr>
          <p:cNvPr id="130" name="Google Shape;130;p22"/>
          <p:cNvPicPr preferRelativeResize="0"/>
          <p:nvPr/>
        </p:nvPicPr>
        <p:blipFill>
          <a:blip r:embed="rId4">
            <a:alphaModFix/>
          </a:blip>
          <a:stretch>
            <a:fillRect/>
          </a:stretch>
        </p:blipFill>
        <p:spPr>
          <a:xfrm>
            <a:off x="1762419" y="1196800"/>
            <a:ext cx="1485275" cy="1638300"/>
          </a:xfrm>
          <a:prstGeom prst="rect">
            <a:avLst/>
          </a:prstGeom>
          <a:noFill/>
          <a:ln>
            <a:noFill/>
          </a:ln>
        </p:spPr>
      </p:pic>
      <p:pic>
        <p:nvPicPr>
          <p:cNvPr id="131" name="Google Shape;131;p22"/>
          <p:cNvPicPr preferRelativeResize="0"/>
          <p:nvPr/>
        </p:nvPicPr>
        <p:blipFill>
          <a:blip r:embed="rId5">
            <a:alphaModFix/>
          </a:blip>
          <a:stretch>
            <a:fillRect/>
          </a:stretch>
        </p:blipFill>
        <p:spPr>
          <a:xfrm>
            <a:off x="3397156" y="1196800"/>
            <a:ext cx="1485275" cy="1676400"/>
          </a:xfrm>
          <a:prstGeom prst="rect">
            <a:avLst/>
          </a:prstGeom>
          <a:noFill/>
          <a:ln>
            <a:noFill/>
          </a:ln>
        </p:spPr>
      </p:pic>
      <p:pic>
        <p:nvPicPr>
          <p:cNvPr id="132" name="Google Shape;132;p22"/>
          <p:cNvPicPr preferRelativeResize="0"/>
          <p:nvPr/>
        </p:nvPicPr>
        <p:blipFill>
          <a:blip r:embed="rId6">
            <a:alphaModFix/>
          </a:blip>
          <a:stretch>
            <a:fillRect/>
          </a:stretch>
        </p:blipFill>
        <p:spPr>
          <a:xfrm>
            <a:off x="5031893" y="1196800"/>
            <a:ext cx="1270424" cy="1619250"/>
          </a:xfrm>
          <a:prstGeom prst="rect">
            <a:avLst/>
          </a:prstGeom>
          <a:noFill/>
          <a:ln>
            <a:noFill/>
          </a:ln>
        </p:spPr>
      </p:pic>
      <p:pic>
        <p:nvPicPr>
          <p:cNvPr id="133" name="Google Shape;133;p22"/>
          <p:cNvPicPr preferRelativeResize="0"/>
          <p:nvPr/>
        </p:nvPicPr>
        <p:blipFill>
          <a:blip r:embed="rId7">
            <a:alphaModFix/>
          </a:blip>
          <a:stretch>
            <a:fillRect/>
          </a:stretch>
        </p:blipFill>
        <p:spPr>
          <a:xfrm>
            <a:off x="6451779" y="1196800"/>
            <a:ext cx="1233059" cy="1647825"/>
          </a:xfrm>
          <a:prstGeom prst="rect">
            <a:avLst/>
          </a:prstGeom>
          <a:noFill/>
          <a:ln>
            <a:noFill/>
          </a:ln>
        </p:spPr>
      </p:pic>
      <p:pic>
        <p:nvPicPr>
          <p:cNvPr id="134" name="Google Shape;134;p22"/>
          <p:cNvPicPr preferRelativeResize="0"/>
          <p:nvPr/>
        </p:nvPicPr>
        <p:blipFill>
          <a:blip r:embed="rId8">
            <a:alphaModFix/>
          </a:blip>
          <a:stretch>
            <a:fillRect/>
          </a:stretch>
        </p:blipFill>
        <p:spPr>
          <a:xfrm>
            <a:off x="7837237" y="1196800"/>
            <a:ext cx="1076325" cy="657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Wrangling: </a:t>
            </a:r>
            <a:endParaRPr/>
          </a:p>
        </p:txBody>
      </p:sp>
      <p:pic>
        <p:nvPicPr>
          <p:cNvPr id="140" name="Google Shape;140;p23"/>
          <p:cNvPicPr preferRelativeResize="0"/>
          <p:nvPr/>
        </p:nvPicPr>
        <p:blipFill>
          <a:blip r:embed="rId3">
            <a:alphaModFix/>
          </a:blip>
          <a:stretch>
            <a:fillRect/>
          </a:stretch>
        </p:blipFill>
        <p:spPr>
          <a:xfrm>
            <a:off x="230438" y="1179150"/>
            <a:ext cx="1382520" cy="1704975"/>
          </a:xfrm>
          <a:prstGeom prst="rect">
            <a:avLst/>
          </a:prstGeom>
          <a:noFill/>
          <a:ln>
            <a:noFill/>
          </a:ln>
        </p:spPr>
      </p:pic>
      <p:pic>
        <p:nvPicPr>
          <p:cNvPr id="141" name="Google Shape;141;p23"/>
          <p:cNvPicPr preferRelativeResize="0"/>
          <p:nvPr/>
        </p:nvPicPr>
        <p:blipFill>
          <a:blip r:embed="rId4">
            <a:alphaModFix/>
          </a:blip>
          <a:stretch>
            <a:fillRect/>
          </a:stretch>
        </p:blipFill>
        <p:spPr>
          <a:xfrm>
            <a:off x="1762419" y="1196800"/>
            <a:ext cx="1485275" cy="1638300"/>
          </a:xfrm>
          <a:prstGeom prst="rect">
            <a:avLst/>
          </a:prstGeom>
          <a:noFill/>
          <a:ln>
            <a:noFill/>
          </a:ln>
        </p:spPr>
      </p:pic>
      <p:pic>
        <p:nvPicPr>
          <p:cNvPr id="142" name="Google Shape;142;p23"/>
          <p:cNvPicPr preferRelativeResize="0"/>
          <p:nvPr/>
        </p:nvPicPr>
        <p:blipFill>
          <a:blip r:embed="rId5">
            <a:alphaModFix/>
          </a:blip>
          <a:stretch>
            <a:fillRect/>
          </a:stretch>
        </p:blipFill>
        <p:spPr>
          <a:xfrm>
            <a:off x="3397156" y="1196800"/>
            <a:ext cx="1485275" cy="1676400"/>
          </a:xfrm>
          <a:prstGeom prst="rect">
            <a:avLst/>
          </a:prstGeom>
          <a:noFill/>
          <a:ln>
            <a:noFill/>
          </a:ln>
        </p:spPr>
      </p:pic>
      <p:pic>
        <p:nvPicPr>
          <p:cNvPr id="143" name="Google Shape;143;p23"/>
          <p:cNvPicPr preferRelativeResize="0"/>
          <p:nvPr/>
        </p:nvPicPr>
        <p:blipFill>
          <a:blip r:embed="rId6">
            <a:alphaModFix/>
          </a:blip>
          <a:stretch>
            <a:fillRect/>
          </a:stretch>
        </p:blipFill>
        <p:spPr>
          <a:xfrm>
            <a:off x="5031893" y="1196800"/>
            <a:ext cx="1270424" cy="1619250"/>
          </a:xfrm>
          <a:prstGeom prst="rect">
            <a:avLst/>
          </a:prstGeom>
          <a:noFill/>
          <a:ln>
            <a:noFill/>
          </a:ln>
        </p:spPr>
      </p:pic>
      <p:pic>
        <p:nvPicPr>
          <p:cNvPr id="144" name="Google Shape;144;p23"/>
          <p:cNvPicPr preferRelativeResize="0"/>
          <p:nvPr/>
        </p:nvPicPr>
        <p:blipFill>
          <a:blip r:embed="rId7">
            <a:alphaModFix/>
          </a:blip>
          <a:stretch>
            <a:fillRect/>
          </a:stretch>
        </p:blipFill>
        <p:spPr>
          <a:xfrm>
            <a:off x="6451779" y="1196800"/>
            <a:ext cx="1233059" cy="1647825"/>
          </a:xfrm>
          <a:prstGeom prst="rect">
            <a:avLst/>
          </a:prstGeom>
          <a:noFill/>
          <a:ln>
            <a:noFill/>
          </a:ln>
        </p:spPr>
      </p:pic>
      <p:pic>
        <p:nvPicPr>
          <p:cNvPr id="145" name="Google Shape;145;p23"/>
          <p:cNvPicPr preferRelativeResize="0"/>
          <p:nvPr/>
        </p:nvPicPr>
        <p:blipFill>
          <a:blip r:embed="rId8">
            <a:alphaModFix/>
          </a:blip>
          <a:stretch>
            <a:fillRect/>
          </a:stretch>
        </p:blipFill>
        <p:spPr>
          <a:xfrm>
            <a:off x="7837237" y="1196800"/>
            <a:ext cx="1076325" cy="657225"/>
          </a:xfrm>
          <a:prstGeom prst="rect">
            <a:avLst/>
          </a:prstGeom>
          <a:noFill/>
          <a:ln>
            <a:noFill/>
          </a:ln>
        </p:spPr>
      </p:pic>
      <p:sp>
        <p:nvSpPr>
          <p:cNvPr id="146" name="Google Shape;146;p23"/>
          <p:cNvSpPr/>
          <p:nvPr/>
        </p:nvSpPr>
        <p:spPr>
          <a:xfrm>
            <a:off x="286450" y="1196800"/>
            <a:ext cx="1270500" cy="114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3"/>
          <p:cNvSpPr/>
          <p:nvPr/>
        </p:nvSpPr>
        <p:spPr>
          <a:xfrm>
            <a:off x="286450" y="2720800"/>
            <a:ext cx="12705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p:nvPr/>
        </p:nvSpPr>
        <p:spPr>
          <a:xfrm>
            <a:off x="1810450" y="1196650"/>
            <a:ext cx="1270500" cy="161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3"/>
          <p:cNvSpPr/>
          <p:nvPr/>
        </p:nvSpPr>
        <p:spPr>
          <a:xfrm>
            <a:off x="3456425" y="2231131"/>
            <a:ext cx="1270500" cy="65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3"/>
          <p:cNvSpPr/>
          <p:nvPr/>
        </p:nvSpPr>
        <p:spPr>
          <a:xfrm>
            <a:off x="3456432" y="1882600"/>
            <a:ext cx="12705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3"/>
          <p:cNvSpPr/>
          <p:nvPr/>
        </p:nvSpPr>
        <p:spPr>
          <a:xfrm>
            <a:off x="3456425" y="1349200"/>
            <a:ext cx="1270500" cy="34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3"/>
          <p:cNvSpPr/>
          <p:nvPr/>
        </p:nvSpPr>
        <p:spPr>
          <a:xfrm>
            <a:off x="5056625" y="1501600"/>
            <a:ext cx="12330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p:nvPr/>
        </p:nvSpPr>
        <p:spPr>
          <a:xfrm>
            <a:off x="5056626" y="1196800"/>
            <a:ext cx="11976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3"/>
          <p:cNvSpPr/>
          <p:nvPr/>
        </p:nvSpPr>
        <p:spPr>
          <a:xfrm>
            <a:off x="5056625" y="2231131"/>
            <a:ext cx="1270500" cy="65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3"/>
          <p:cNvSpPr/>
          <p:nvPr/>
        </p:nvSpPr>
        <p:spPr>
          <a:xfrm>
            <a:off x="7837225" y="1143000"/>
            <a:ext cx="10389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3"/>
          <p:cNvSpPr/>
          <p:nvPr/>
        </p:nvSpPr>
        <p:spPr>
          <a:xfrm>
            <a:off x="7837225" y="1676400"/>
            <a:ext cx="10389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3"/>
          <p:cNvSpPr/>
          <p:nvPr/>
        </p:nvSpPr>
        <p:spPr>
          <a:xfrm>
            <a:off x="6451800" y="2000950"/>
            <a:ext cx="10389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3"/>
          <p:cNvSpPr/>
          <p:nvPr/>
        </p:nvSpPr>
        <p:spPr>
          <a:xfrm>
            <a:off x="6451800" y="1196800"/>
            <a:ext cx="1038900" cy="30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CITY</a:t>
            </a:r>
            <a:endParaRPr sz="900"/>
          </a:p>
          <a:p>
            <a:pPr indent="0" lvl="0" marL="0" rtl="0" algn="ctr">
              <a:spcBef>
                <a:spcPts val="0"/>
              </a:spcBef>
              <a:spcAft>
                <a:spcPts val="0"/>
              </a:spcAft>
              <a:buNone/>
            </a:pPr>
            <a:r>
              <a:rPr lang="en" sz="900"/>
              <a:t>ZIP</a:t>
            </a:r>
            <a:endParaRPr sz="900"/>
          </a:p>
        </p:txBody>
      </p:sp>
      <p:sp>
        <p:nvSpPr>
          <p:cNvPr id="159" name="Google Shape;159;p23"/>
          <p:cNvSpPr/>
          <p:nvPr/>
        </p:nvSpPr>
        <p:spPr>
          <a:xfrm>
            <a:off x="6451800" y="1696150"/>
            <a:ext cx="10389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Central_Cooling</a:t>
            </a:r>
            <a:endParaRPr sz="900"/>
          </a:p>
        </p:txBody>
      </p:sp>
      <p:sp>
        <p:nvSpPr>
          <p:cNvPr id="160" name="Google Shape;160;p23"/>
          <p:cNvSpPr/>
          <p:nvPr/>
        </p:nvSpPr>
        <p:spPr>
          <a:xfrm>
            <a:off x="5056625" y="1349200"/>
            <a:ext cx="1233000" cy="1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Evac_Zone_A</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a:t>
            </a:r>
            <a:endParaRPr/>
          </a:p>
        </p:txBody>
      </p:sp>
      <p:sp>
        <p:nvSpPr>
          <p:cNvPr id="166" name="Google Shape;16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features affected price the most?</a:t>
            </a:r>
            <a:endParaRPr/>
          </a:p>
          <a:p>
            <a:pPr indent="0" lvl="0" marL="0" rtl="0" algn="l">
              <a:spcBef>
                <a:spcPts val="1200"/>
              </a:spcBef>
              <a:spcAft>
                <a:spcPts val="0"/>
              </a:spcAft>
              <a:buNone/>
            </a:pPr>
            <a:r>
              <a:rPr lang="en"/>
              <a:t>Possible features:</a:t>
            </a:r>
            <a:endParaRPr/>
          </a:p>
          <a:p>
            <a:pPr indent="0" lvl="0" marL="0" rtl="0" algn="l">
              <a:spcBef>
                <a:spcPts val="1200"/>
              </a:spcBef>
              <a:spcAft>
                <a:spcPts val="0"/>
              </a:spcAft>
              <a:buNone/>
            </a:pPr>
            <a:r>
              <a:rPr lang="en"/>
              <a:t>Size</a:t>
            </a:r>
            <a:endParaRPr/>
          </a:p>
          <a:p>
            <a:pPr indent="0" lvl="0" marL="0" rtl="0" algn="l">
              <a:spcBef>
                <a:spcPts val="1200"/>
              </a:spcBef>
              <a:spcAft>
                <a:spcPts val="0"/>
              </a:spcAft>
              <a:buNone/>
            </a:pPr>
            <a:r>
              <a:rPr lang="en"/>
              <a:t>Location related(City/Zip code)</a:t>
            </a:r>
            <a:endParaRPr/>
          </a:p>
          <a:p>
            <a:pPr indent="0" lvl="0" marL="0" rtl="0" algn="l">
              <a:spcBef>
                <a:spcPts val="1200"/>
              </a:spcBef>
              <a:spcAft>
                <a:spcPts val="0"/>
              </a:spcAft>
              <a:buNone/>
            </a:pPr>
            <a:r>
              <a:rPr lang="en"/>
              <a:t>Construction</a:t>
            </a:r>
            <a:endParaRPr/>
          </a:p>
          <a:p>
            <a:pPr indent="0" lvl="0" marL="0" rtl="0" algn="l">
              <a:spcBef>
                <a:spcPts val="1200"/>
              </a:spcBef>
              <a:spcAft>
                <a:spcPts val="1200"/>
              </a:spcAft>
              <a:buNone/>
            </a:pPr>
            <a:r>
              <a:rPr lang="en"/>
              <a:t>Seawall, Waterfront, Evac_Zone 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 Size</a:t>
            </a:r>
            <a:endParaRPr/>
          </a:p>
        </p:txBody>
      </p:sp>
      <p:graphicFrame>
        <p:nvGraphicFramePr>
          <p:cNvPr id="172" name="Google Shape;172;p25"/>
          <p:cNvGraphicFramePr/>
          <p:nvPr/>
        </p:nvGraphicFramePr>
        <p:xfrm>
          <a:off x="115825" y="1017725"/>
          <a:ext cx="3000000" cy="3000000"/>
        </p:xfrm>
        <a:graphic>
          <a:graphicData uri="http://schemas.openxmlformats.org/drawingml/2006/table">
            <a:tbl>
              <a:tblPr>
                <a:noFill/>
                <a:tableStyleId>{60964846-391A-4D72-B66E-B3296B86AEE8}</a:tableStyleId>
              </a:tblPr>
              <a:tblGrid>
                <a:gridCol w="1485400"/>
                <a:gridCol w="1485400"/>
                <a:gridCol w="1485400"/>
              </a:tblGrid>
              <a:tr h="5605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Total Living Space in Sq. Ft.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Total Gross Space in Sq. Ft.</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756725">
                <a:tc>
                  <a:txBody>
                    <a:bodyPr/>
                    <a:lstStyle/>
                    <a:p>
                      <a:pPr indent="0" lvl="0" marL="0" rtl="0" algn="l">
                        <a:spcBef>
                          <a:spcPts val="0"/>
                        </a:spcBef>
                        <a:spcAft>
                          <a:spcPts val="0"/>
                        </a:spcAft>
                        <a:buNone/>
                      </a:pPr>
                      <a:r>
                        <a:rPr lang="en"/>
                        <a:t>Price per Sq. Ft. from a linear regression</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$263 per Sq. Ft.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$177 per Sq. Ft.</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64325">
                <a:tc>
                  <a:txBody>
                    <a:bodyPr/>
                    <a:lstStyle/>
                    <a:p>
                      <a:pPr indent="0" lvl="0" marL="0" rtl="0" algn="l">
                        <a:spcBef>
                          <a:spcPts val="0"/>
                        </a:spcBef>
                        <a:spcAft>
                          <a:spcPts val="0"/>
                        </a:spcAft>
                        <a:buNone/>
                      </a:pPr>
                      <a:r>
                        <a:rPr lang="en"/>
                        <a:t>Median Area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1512 Sq. Ft.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2108 Sq. Ft.</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560525">
                <a:tc>
                  <a:txBody>
                    <a:bodyPr/>
                    <a:lstStyle/>
                    <a:p>
                      <a:pPr indent="0" lvl="0" marL="0" rtl="0" algn="l">
                        <a:spcBef>
                          <a:spcPts val="0"/>
                        </a:spcBef>
                        <a:spcAft>
                          <a:spcPts val="0"/>
                        </a:spcAft>
                        <a:buNone/>
                      </a:pPr>
                      <a:r>
                        <a:rPr lang="en"/>
                        <a:t>Median Area x $/Sq.Ft.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$397656</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$373116</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64325">
                <a:tc>
                  <a:txBody>
                    <a:bodyPr/>
                    <a:lstStyle/>
                    <a:p>
                      <a:pPr indent="0" lvl="0" marL="0" rtl="0" algn="l">
                        <a:spcBef>
                          <a:spcPts val="0"/>
                        </a:spcBef>
                        <a:spcAft>
                          <a:spcPts val="0"/>
                        </a:spcAft>
                        <a:buNone/>
                      </a:pPr>
                      <a:r>
                        <a:rPr lang="en"/>
                        <a:t>Intercept Price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317500" lvl="0" marL="457200" rtl="0" algn="l">
                        <a:spcBef>
                          <a:spcPts val="0"/>
                        </a:spcBef>
                        <a:spcAft>
                          <a:spcPts val="0"/>
                        </a:spcAft>
                        <a:buSzPts val="1400"/>
                        <a:buChar char="-"/>
                      </a:pPr>
                      <a:r>
                        <a:rPr lang="en"/>
                        <a:t>$29758</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317500" lvl="0" marL="457200" rtl="0" algn="l">
                        <a:spcBef>
                          <a:spcPts val="0"/>
                        </a:spcBef>
                        <a:spcAft>
                          <a:spcPts val="0"/>
                        </a:spcAft>
                        <a:buSzPts val="1400"/>
                        <a:buChar char="-"/>
                      </a:pPr>
                      <a:r>
                        <a:rPr lang="en"/>
                        <a:t>$63</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4325">
                <a:tc>
                  <a:txBody>
                    <a:bodyPr/>
                    <a:lstStyle/>
                    <a:p>
                      <a:pPr indent="0" lvl="0" marL="0" rtl="0" algn="l">
                        <a:spcBef>
                          <a:spcPts val="0"/>
                        </a:spcBef>
                        <a:spcAft>
                          <a:spcPts val="0"/>
                        </a:spcAft>
                        <a:buNone/>
                      </a:pPr>
                      <a:r>
                        <a:rPr lang="en"/>
                        <a:t>Predicted Price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228600" lvl="0" marL="457200" rtl="0" algn="l">
                        <a:spcBef>
                          <a:spcPts val="0"/>
                        </a:spcBef>
                        <a:spcAft>
                          <a:spcPts val="0"/>
                        </a:spcAft>
                        <a:buNone/>
                      </a:pPr>
                      <a:r>
                        <a:rPr lang="en"/>
                        <a:t>$367898</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228600" lvl="0" marL="457200" rtl="0" algn="l">
                        <a:spcBef>
                          <a:spcPts val="0"/>
                        </a:spcBef>
                        <a:spcAft>
                          <a:spcPts val="0"/>
                        </a:spcAft>
                        <a:buNone/>
                      </a:pPr>
                      <a:r>
                        <a:rPr lang="en"/>
                        <a:t>$373053</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graphicFrame>
        <p:nvGraphicFramePr>
          <p:cNvPr id="173" name="Google Shape;173;p25"/>
          <p:cNvGraphicFramePr/>
          <p:nvPr/>
        </p:nvGraphicFramePr>
        <p:xfrm>
          <a:off x="4687800" y="1017725"/>
          <a:ext cx="3000000" cy="3000000"/>
        </p:xfrm>
        <a:graphic>
          <a:graphicData uri="http://schemas.openxmlformats.org/drawingml/2006/table">
            <a:tbl>
              <a:tblPr>
                <a:noFill/>
                <a:tableStyleId>{60964846-391A-4D72-B66E-B3296B86AEE8}</a:tableStyleId>
              </a:tblPr>
              <a:tblGrid>
                <a:gridCol w="1485400"/>
                <a:gridCol w="1485400"/>
                <a:gridCol w="1485400"/>
              </a:tblGrid>
              <a:tr h="5605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Total Living Space in Sq. Ft.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Total Gross Space in Sq. Ft.</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560525">
                <a:tc>
                  <a:txBody>
                    <a:bodyPr/>
                    <a:lstStyle/>
                    <a:p>
                      <a:pPr indent="0" lvl="0" marL="0" rtl="0" algn="l">
                        <a:spcBef>
                          <a:spcPts val="0"/>
                        </a:spcBef>
                        <a:spcAft>
                          <a:spcPts val="0"/>
                        </a:spcAft>
                        <a:buNone/>
                      </a:pPr>
                      <a:r>
                        <a:rPr lang="en"/>
                        <a:t>Median Price per Sq. Ft.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$217</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$157</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r h="364325">
                <a:tc>
                  <a:txBody>
                    <a:bodyPr/>
                    <a:lstStyle/>
                    <a:p>
                      <a:pPr indent="0" lvl="0" marL="0" rtl="0" algn="l">
                        <a:spcBef>
                          <a:spcPts val="0"/>
                        </a:spcBef>
                        <a:spcAft>
                          <a:spcPts val="0"/>
                        </a:spcAft>
                        <a:buNone/>
                      </a:pPr>
                      <a:r>
                        <a:rPr lang="en"/>
                        <a:t>Median Area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1512 Sq. Ft.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2108 Sq. Ft.</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560525">
                <a:tc>
                  <a:txBody>
                    <a:bodyPr/>
                    <a:lstStyle/>
                    <a:p>
                      <a:pPr indent="0" lvl="0" marL="0" rtl="0" algn="l">
                        <a:spcBef>
                          <a:spcPts val="0"/>
                        </a:spcBef>
                        <a:spcAft>
                          <a:spcPts val="0"/>
                        </a:spcAft>
                        <a:buNone/>
                      </a:pPr>
                      <a:r>
                        <a:rPr lang="en"/>
                        <a:t>Median Area x $/Sq.Ft.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$328104</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$330956</a:t>
                      </a:r>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2"/>
                    </a:solidFill>
                  </a:tcPr>
                </a:tc>
              </a:tr>
            </a:tbl>
          </a:graphicData>
        </a:graphic>
      </p:graphicFrame>
      <p:pic>
        <p:nvPicPr>
          <p:cNvPr id="174" name="Google Shape;174;p25"/>
          <p:cNvPicPr preferRelativeResize="0"/>
          <p:nvPr/>
        </p:nvPicPr>
        <p:blipFill>
          <a:blip r:embed="rId3">
            <a:alphaModFix/>
          </a:blip>
          <a:stretch>
            <a:fillRect/>
          </a:stretch>
        </p:blipFill>
        <p:spPr>
          <a:xfrm>
            <a:off x="4687800" y="3578230"/>
            <a:ext cx="4456200" cy="10969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 City Location</a:t>
            </a:r>
            <a:endParaRPr/>
          </a:p>
        </p:txBody>
      </p:sp>
      <p:sp>
        <p:nvSpPr>
          <p:cNvPr id="180" name="Google Shape;180;p26"/>
          <p:cNvSpPr txBox="1"/>
          <p:nvPr>
            <p:ph idx="1" type="body"/>
          </p:nvPr>
        </p:nvSpPr>
        <p:spPr>
          <a:xfrm>
            <a:off x="6512500" y="1152475"/>
            <a:ext cx="231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Median beach town house prices were</a:t>
            </a:r>
            <a:r>
              <a:rPr b="1" lang="en"/>
              <a:t> at least 50 thousand dollars more</a:t>
            </a:r>
            <a:r>
              <a:rPr lang="en"/>
              <a:t> than the county as a whole.</a:t>
            </a:r>
            <a:endParaRPr/>
          </a:p>
        </p:txBody>
      </p:sp>
      <p:pic>
        <p:nvPicPr>
          <p:cNvPr id="181" name="Google Shape;181;p26"/>
          <p:cNvPicPr preferRelativeResize="0"/>
          <p:nvPr/>
        </p:nvPicPr>
        <p:blipFill>
          <a:blip r:embed="rId3">
            <a:alphaModFix/>
          </a:blip>
          <a:stretch>
            <a:fillRect/>
          </a:stretch>
        </p:blipFill>
        <p:spPr>
          <a:xfrm>
            <a:off x="77700" y="1017724"/>
            <a:ext cx="5950674" cy="36925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a:t>
            </a:r>
            <a:endParaRPr/>
          </a:p>
        </p:txBody>
      </p:sp>
      <p:sp>
        <p:nvSpPr>
          <p:cNvPr id="187" name="Google Shape;187;p27"/>
          <p:cNvSpPr txBox="1"/>
          <p:nvPr>
            <p:ph idx="1" type="body"/>
          </p:nvPr>
        </p:nvSpPr>
        <p:spPr>
          <a:xfrm>
            <a:off x="6932100" y="982725"/>
            <a:ext cx="1900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Less sales: Median price is statistically significantly different.</a:t>
            </a:r>
            <a:endParaRPr/>
          </a:p>
          <a:p>
            <a:pPr indent="0" lvl="0" marL="0" rtl="0" algn="l">
              <a:spcBef>
                <a:spcPts val="1200"/>
              </a:spcBef>
              <a:spcAft>
                <a:spcPts val="1200"/>
              </a:spcAft>
              <a:buNone/>
            </a:pPr>
            <a:r>
              <a:t/>
            </a:r>
            <a:endParaRPr/>
          </a:p>
        </p:txBody>
      </p:sp>
      <p:pic>
        <p:nvPicPr>
          <p:cNvPr id="188" name="Google Shape;188;p27"/>
          <p:cNvPicPr preferRelativeResize="0"/>
          <p:nvPr/>
        </p:nvPicPr>
        <p:blipFill>
          <a:blip r:embed="rId3">
            <a:alphaModFix/>
          </a:blip>
          <a:stretch>
            <a:fillRect/>
          </a:stretch>
        </p:blipFill>
        <p:spPr>
          <a:xfrm>
            <a:off x="311700" y="1152475"/>
            <a:ext cx="6556425" cy="3076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 Construction</a:t>
            </a:r>
            <a:endParaRPr/>
          </a:p>
        </p:txBody>
      </p:sp>
      <p:graphicFrame>
        <p:nvGraphicFramePr>
          <p:cNvPr id="194" name="Google Shape;194;p28"/>
          <p:cNvGraphicFramePr/>
          <p:nvPr/>
        </p:nvGraphicFramePr>
        <p:xfrm>
          <a:off x="105800" y="1330925"/>
          <a:ext cx="3000000" cy="3000000"/>
        </p:xfrm>
        <a:graphic>
          <a:graphicData uri="http://schemas.openxmlformats.org/drawingml/2006/table">
            <a:tbl>
              <a:tblPr>
                <a:noFill/>
                <a:tableStyleId>{60964846-391A-4D72-B66E-B3296B86AEE8}</a:tableStyleId>
              </a:tblPr>
              <a:tblGrid>
                <a:gridCol w="1544825"/>
                <a:gridCol w="1840075"/>
                <a:gridCol w="1815125"/>
                <a:gridCol w="1733300"/>
                <a:gridCol w="1733300"/>
              </a:tblGrid>
              <a:tr h="368925">
                <a:tc>
                  <a:txBody>
                    <a:bodyPr/>
                    <a:lstStyle/>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Foundation</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Floor System</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Floor Finish</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Exterior Walls</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1720450">
                <a:tc>
                  <a:txBody>
                    <a:bodyPr/>
                    <a:lstStyle/>
                    <a:p>
                      <a:pPr indent="0" lvl="0" marL="0" rtl="0" algn="l">
                        <a:spcBef>
                          <a:spcPts val="0"/>
                        </a:spcBef>
                        <a:spcAft>
                          <a:spcPts val="0"/>
                        </a:spcAft>
                        <a:buNone/>
                      </a:pPr>
                      <a:r>
                        <a:rPr lang="en"/>
                        <a:t>Comparison</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‘Continuous Poured Footing’ vs ‘Other’</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‘Slab on Grade’ vs ‘Wood’ vs ‘Low_Slab_Above_Grade’ vs ‘High_Slab</a:t>
                      </a:r>
                      <a:r>
                        <a:rPr lang="en"/>
                        <a:t>_above_Grade’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‘Carpet/</a:t>
                      </a:r>
                      <a:r>
                        <a:rPr lang="en"/>
                        <a:t>Hard Tile</a:t>
                      </a:r>
                      <a:r>
                        <a:rPr lang="en"/>
                        <a:t>/Hardwood’ vs Carpet/Vinyl/ Asphalt’ vs </a:t>
                      </a:r>
                      <a:endParaRPr/>
                    </a:p>
                    <a:p>
                      <a:pPr indent="0" lvl="0" marL="0" rtl="0" algn="l">
                        <a:spcBef>
                          <a:spcPts val="0"/>
                        </a:spcBef>
                        <a:spcAft>
                          <a:spcPts val="0"/>
                        </a:spcAft>
                        <a:buNone/>
                      </a:pPr>
                      <a:r>
                        <a:rPr lang="en"/>
                        <a:t>‘</a:t>
                      </a:r>
                      <a:r>
                        <a:rPr lang="en"/>
                        <a:t>Hard Tile</a:t>
                      </a:r>
                      <a:r>
                        <a:rPr lang="en"/>
                        <a:t>/Wood/ Marble’ vs</a:t>
                      </a:r>
                      <a:endParaRPr/>
                    </a:p>
                    <a:p>
                      <a:pPr indent="0" lvl="0" marL="0" rtl="0" algn="l">
                        <a:spcBef>
                          <a:spcPts val="0"/>
                        </a:spcBef>
                        <a:spcAft>
                          <a:spcPts val="0"/>
                        </a:spcAft>
                        <a:buNone/>
                      </a:pPr>
                      <a:r>
                        <a:rPr lang="en"/>
                        <a:t>‘Concrete’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‘Concrete Block/Masonry’ vs ‘Stucco/Reclad’ vs</a:t>
                      </a:r>
                      <a:endParaRPr/>
                    </a:p>
                    <a:p>
                      <a:pPr indent="0" lvl="0" marL="0" rtl="0" algn="l">
                        <a:spcBef>
                          <a:spcPts val="0"/>
                        </a:spcBef>
                        <a:spcAft>
                          <a:spcPts val="0"/>
                        </a:spcAft>
                        <a:buNone/>
                      </a:pPr>
                      <a:r>
                        <a:rPr lang="en"/>
                        <a:t>‘Frame’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1470725">
                <a:tc>
                  <a:txBody>
                    <a:bodyPr/>
                    <a:lstStyle/>
                    <a:p>
                      <a:pPr indent="0" lvl="0" marL="0" rtl="0" algn="l">
                        <a:spcBef>
                          <a:spcPts val="0"/>
                        </a:spcBef>
                        <a:spcAft>
                          <a:spcPts val="0"/>
                        </a:spcAft>
                        <a:buNone/>
                      </a:pPr>
                      <a:r>
                        <a:rPr lang="en"/>
                        <a:t>A</a:t>
                      </a:r>
                      <a:r>
                        <a:rPr lang="en"/>
                        <a:t>ffect</a:t>
                      </a:r>
                      <a:r>
                        <a:rPr lang="en"/>
                        <a:t> on Median $335000 Price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-$5,000 vs +$134,000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-$1,500 vs</a:t>
                      </a:r>
                      <a:endParaRPr/>
                    </a:p>
                    <a:p>
                      <a:pPr indent="0" lvl="0" marL="0" rtl="0" algn="l">
                        <a:spcBef>
                          <a:spcPts val="0"/>
                        </a:spcBef>
                        <a:spcAft>
                          <a:spcPts val="0"/>
                        </a:spcAft>
                        <a:buNone/>
                      </a:pPr>
                      <a:r>
                        <a:rPr lang="en"/>
                        <a:t>-$25,000 vs</a:t>
                      </a:r>
                      <a:endParaRPr/>
                    </a:p>
                    <a:p>
                      <a:pPr indent="0" lvl="0" marL="0" rtl="0" algn="l">
                        <a:spcBef>
                          <a:spcPts val="0"/>
                        </a:spcBef>
                        <a:spcAft>
                          <a:spcPts val="0"/>
                        </a:spcAft>
                        <a:buNone/>
                      </a:pPr>
                      <a:r>
                        <a:rPr lang="en"/>
                        <a:t>+285,000 vs</a:t>
                      </a:r>
                      <a:endParaRPr/>
                    </a:p>
                    <a:p>
                      <a:pPr indent="0" lvl="0" marL="0" rtl="0" algn="l">
                        <a:spcBef>
                          <a:spcPts val="0"/>
                        </a:spcBef>
                        <a:spcAft>
                          <a:spcPts val="0"/>
                        </a:spcAft>
                        <a:buNone/>
                      </a:pPr>
                      <a:r>
                        <a:rPr lang="en"/>
                        <a:t>+1,465,000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+$5,000 vs</a:t>
                      </a:r>
                      <a:endParaRPr/>
                    </a:p>
                    <a:p>
                      <a:pPr indent="0" lvl="0" marL="0" rtl="0" algn="l">
                        <a:spcBef>
                          <a:spcPts val="0"/>
                        </a:spcBef>
                        <a:spcAft>
                          <a:spcPts val="0"/>
                        </a:spcAft>
                        <a:buNone/>
                      </a:pPr>
                      <a:r>
                        <a:rPr lang="en"/>
                        <a:t>-$93,500 vs</a:t>
                      </a:r>
                      <a:endParaRPr/>
                    </a:p>
                    <a:p>
                      <a:pPr indent="0" lvl="0" marL="0" rtl="0" algn="l">
                        <a:spcBef>
                          <a:spcPts val="0"/>
                        </a:spcBef>
                        <a:spcAft>
                          <a:spcPts val="0"/>
                        </a:spcAft>
                        <a:buNone/>
                      </a:pPr>
                      <a:r>
                        <a:rPr lang="en"/>
                        <a:t>+$800,000 vs</a:t>
                      </a:r>
                      <a:endParaRPr/>
                    </a:p>
                    <a:p>
                      <a:pPr indent="0" lvl="0" marL="0" rtl="0" algn="l">
                        <a:spcBef>
                          <a:spcPts val="0"/>
                        </a:spcBef>
                        <a:spcAft>
                          <a:spcPts val="0"/>
                        </a:spcAft>
                        <a:buNone/>
                      </a:pPr>
                      <a:r>
                        <a:rPr lang="en"/>
                        <a:t>+$125,850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-$70,100 vs</a:t>
                      </a:r>
                      <a:endParaRPr/>
                    </a:p>
                    <a:p>
                      <a:pPr indent="0" lvl="0" marL="0" rtl="0" algn="l">
                        <a:spcBef>
                          <a:spcPts val="0"/>
                        </a:spcBef>
                        <a:spcAft>
                          <a:spcPts val="0"/>
                        </a:spcAft>
                        <a:buNone/>
                      </a:pPr>
                      <a:r>
                        <a:rPr lang="en"/>
                        <a:t>+$39,900 vs</a:t>
                      </a:r>
                      <a:endParaRPr/>
                    </a:p>
                    <a:p>
                      <a:pPr indent="0" lvl="0" marL="0" rtl="0" algn="l">
                        <a:spcBef>
                          <a:spcPts val="0"/>
                        </a:spcBef>
                        <a:spcAft>
                          <a:spcPts val="0"/>
                        </a:spcAft>
                        <a:buNone/>
                      </a:pPr>
                      <a:r>
                        <a:rPr lang="en"/>
                        <a:t>-30,000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 Construction</a:t>
            </a:r>
            <a:endParaRPr/>
          </a:p>
        </p:txBody>
      </p:sp>
      <p:graphicFrame>
        <p:nvGraphicFramePr>
          <p:cNvPr id="200" name="Google Shape;200;p29"/>
          <p:cNvGraphicFramePr/>
          <p:nvPr/>
        </p:nvGraphicFramePr>
        <p:xfrm>
          <a:off x="105800" y="1330925"/>
          <a:ext cx="3000000" cy="3000000"/>
        </p:xfrm>
        <a:graphic>
          <a:graphicData uri="http://schemas.openxmlformats.org/drawingml/2006/table">
            <a:tbl>
              <a:tblPr>
                <a:noFill/>
                <a:tableStyleId>{60964846-391A-4D72-B66E-B3296B86AEE8}</a:tableStyleId>
              </a:tblPr>
              <a:tblGrid>
                <a:gridCol w="1544825"/>
                <a:gridCol w="1840075"/>
                <a:gridCol w="1815125"/>
                <a:gridCol w="1733300"/>
                <a:gridCol w="1733300"/>
              </a:tblGrid>
              <a:tr h="368925">
                <a:tc>
                  <a:txBody>
                    <a:bodyPr/>
                    <a:lstStyle/>
                    <a:p>
                      <a:pPr indent="0" lvl="0" marL="0" rtl="0" algn="l">
                        <a:spcBef>
                          <a:spcPts val="0"/>
                        </a:spcBef>
                        <a:spcAft>
                          <a:spcPts val="0"/>
                        </a:spcAft>
                        <a:buNone/>
                      </a:pPr>
                      <a:r>
                        <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Interior Finish</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Roof Frame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Roof Cover</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Central Cooling</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1720450">
                <a:tc>
                  <a:txBody>
                    <a:bodyPr/>
                    <a:lstStyle/>
                    <a:p>
                      <a:pPr indent="0" lvl="0" marL="0" rtl="0" algn="l">
                        <a:spcBef>
                          <a:spcPts val="0"/>
                        </a:spcBef>
                        <a:spcAft>
                          <a:spcPts val="0"/>
                        </a:spcAft>
                        <a:buNone/>
                      </a:pPr>
                      <a:r>
                        <a:rPr lang="en"/>
                        <a:t>Comparison</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‘Drywall/Plaster’</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‘Upgrade’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‘Gable/Hip’</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‘Flat Shed’</a:t>
                      </a:r>
                      <a:endParaRPr/>
                    </a:p>
                    <a:p>
                      <a:pPr indent="0" lvl="0" marL="0" rtl="0" algn="l">
                        <a:spcBef>
                          <a:spcPts val="0"/>
                        </a:spcBef>
                        <a:spcAft>
                          <a:spcPts val="0"/>
                        </a:spcAft>
                        <a:buNone/>
                      </a:pPr>
                      <a:r>
                        <a:rPr lang="en"/>
                        <a:t>Vs </a:t>
                      </a:r>
                      <a:endParaRPr/>
                    </a:p>
                    <a:p>
                      <a:pPr indent="0" lvl="0" marL="0" rtl="0" algn="l">
                        <a:spcBef>
                          <a:spcPts val="0"/>
                        </a:spcBef>
                        <a:spcAft>
                          <a:spcPts val="0"/>
                        </a:spcAft>
                        <a:buNone/>
                      </a:pPr>
                      <a:r>
                        <a:rPr lang="en"/>
                        <a:t>‘Mansard/Gambrel’</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‘Shingle’ </a:t>
                      </a:r>
                      <a:endParaRPr/>
                    </a:p>
                    <a:p>
                      <a:pPr indent="0" lvl="0" marL="0" rtl="0" algn="l">
                        <a:spcBef>
                          <a:spcPts val="0"/>
                        </a:spcBef>
                        <a:spcAft>
                          <a:spcPts val="0"/>
                        </a:spcAft>
                        <a:buNone/>
                      </a:pPr>
                      <a:r>
                        <a:rPr lang="en"/>
                        <a:t>Vs </a:t>
                      </a:r>
                      <a:endParaRPr/>
                    </a:p>
                    <a:p>
                      <a:pPr indent="0" lvl="0" marL="0" rtl="0" algn="l">
                        <a:spcBef>
                          <a:spcPts val="0"/>
                        </a:spcBef>
                        <a:spcAft>
                          <a:spcPts val="0"/>
                        </a:spcAft>
                        <a:buNone/>
                      </a:pPr>
                      <a:r>
                        <a:rPr lang="en"/>
                        <a:t>‘Concrete tile/metal’</a:t>
                      </a:r>
                      <a:endParaRPr/>
                    </a:p>
                    <a:p>
                      <a:pPr indent="0" lvl="0" marL="0" rtl="0" algn="l">
                        <a:spcBef>
                          <a:spcPts val="0"/>
                        </a:spcBef>
                        <a:spcAft>
                          <a:spcPts val="0"/>
                        </a:spcAft>
                        <a:buNone/>
                      </a:pPr>
                      <a:r>
                        <a:rPr lang="en"/>
                        <a:t>Vs </a:t>
                      </a:r>
                      <a:endParaRPr/>
                    </a:p>
                    <a:p>
                      <a:pPr indent="0" lvl="0" marL="0" rtl="0" algn="l">
                        <a:spcBef>
                          <a:spcPts val="0"/>
                        </a:spcBef>
                        <a:spcAft>
                          <a:spcPts val="0"/>
                        </a:spcAft>
                        <a:buNone/>
                      </a:pPr>
                      <a:r>
                        <a:rPr lang="en"/>
                        <a:t>‘Other’</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‘Yes’</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‘No’</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1470725">
                <a:tc>
                  <a:txBody>
                    <a:bodyPr/>
                    <a:lstStyle/>
                    <a:p>
                      <a:pPr indent="0" lvl="0" marL="0" rtl="0" algn="l">
                        <a:spcBef>
                          <a:spcPts val="0"/>
                        </a:spcBef>
                        <a:spcAft>
                          <a:spcPts val="0"/>
                        </a:spcAft>
                        <a:buNone/>
                      </a:pPr>
                      <a:r>
                        <a:rPr lang="en"/>
                        <a:t>Effect on Median $335000 Price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-$35,000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+$206,000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-$15,000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+$155,000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-$12,000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+$204,000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-$47,000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+$2,000</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rPr lang="en"/>
                        <a:t>-$160,000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 Lot Features</a:t>
            </a:r>
            <a:endParaRPr/>
          </a:p>
        </p:txBody>
      </p:sp>
      <p:pic>
        <p:nvPicPr>
          <p:cNvPr id="206" name="Google Shape;206;p30"/>
          <p:cNvPicPr preferRelativeResize="0"/>
          <p:nvPr/>
        </p:nvPicPr>
        <p:blipFill>
          <a:blip r:embed="rId3">
            <a:alphaModFix/>
          </a:blip>
          <a:stretch>
            <a:fillRect/>
          </a:stretch>
        </p:blipFill>
        <p:spPr>
          <a:xfrm>
            <a:off x="3070975" y="2470263"/>
            <a:ext cx="2952699" cy="2359152"/>
          </a:xfrm>
          <a:prstGeom prst="rect">
            <a:avLst/>
          </a:prstGeom>
          <a:noFill/>
          <a:ln>
            <a:noFill/>
          </a:ln>
        </p:spPr>
      </p:pic>
      <p:graphicFrame>
        <p:nvGraphicFramePr>
          <p:cNvPr id="207" name="Google Shape;207;p30"/>
          <p:cNvGraphicFramePr/>
          <p:nvPr/>
        </p:nvGraphicFramePr>
        <p:xfrm>
          <a:off x="3070975" y="1228625"/>
          <a:ext cx="3000000" cy="3000000"/>
        </p:xfrm>
        <a:graphic>
          <a:graphicData uri="http://schemas.openxmlformats.org/drawingml/2006/table">
            <a:tbl>
              <a:tblPr>
                <a:noFill/>
                <a:tableStyleId>{60964846-391A-4D72-B66E-B3296B86AEE8}</a:tableStyleId>
              </a:tblPr>
              <a:tblGrid>
                <a:gridCol w="1476350"/>
                <a:gridCol w="1476350"/>
              </a:tblGrid>
              <a:tr h="368800">
                <a:tc gridSpan="2">
                  <a:txBody>
                    <a:bodyPr/>
                    <a:lstStyle/>
                    <a:p>
                      <a:pPr indent="0" lvl="0" marL="0" rtl="0" algn="l">
                        <a:spcBef>
                          <a:spcPts val="0"/>
                        </a:spcBef>
                        <a:spcAft>
                          <a:spcPts val="0"/>
                        </a:spcAft>
                        <a:buNone/>
                      </a:pPr>
                      <a:r>
                        <a:rPr lang="en"/>
                        <a:t>Median House Price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hMerge="1"/>
              </a:tr>
              <a:tr h="368800">
                <a:tc>
                  <a:txBody>
                    <a:bodyPr/>
                    <a:lstStyle/>
                    <a:p>
                      <a:pPr indent="0" lvl="0" marL="0" rtl="0" algn="l">
                        <a:spcBef>
                          <a:spcPts val="0"/>
                        </a:spcBef>
                        <a:spcAft>
                          <a:spcPts val="0"/>
                        </a:spcAft>
                        <a:buNone/>
                      </a:pPr>
                      <a:r>
                        <a:rPr lang="en"/>
                        <a:t>With Seawall</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$890,000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68800">
                <a:tc>
                  <a:txBody>
                    <a:bodyPr/>
                    <a:lstStyle/>
                    <a:p>
                      <a:pPr indent="0" lvl="0" marL="0" rtl="0" algn="l">
                        <a:spcBef>
                          <a:spcPts val="0"/>
                        </a:spcBef>
                        <a:spcAft>
                          <a:spcPts val="0"/>
                        </a:spcAft>
                        <a:buNone/>
                      </a:pPr>
                      <a:r>
                        <a:rPr lang="en"/>
                        <a:t>Without Seawall</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$320,000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graphicFrame>
        <p:nvGraphicFramePr>
          <p:cNvPr id="208" name="Google Shape;208;p30"/>
          <p:cNvGraphicFramePr/>
          <p:nvPr/>
        </p:nvGraphicFramePr>
        <p:xfrm>
          <a:off x="29150" y="1228625"/>
          <a:ext cx="3000000" cy="3000000"/>
        </p:xfrm>
        <a:graphic>
          <a:graphicData uri="http://schemas.openxmlformats.org/drawingml/2006/table">
            <a:tbl>
              <a:tblPr>
                <a:noFill/>
                <a:tableStyleId>{60964846-391A-4D72-B66E-B3296B86AEE8}</a:tableStyleId>
              </a:tblPr>
              <a:tblGrid>
                <a:gridCol w="1476350"/>
                <a:gridCol w="1476350"/>
              </a:tblGrid>
              <a:tr h="368800">
                <a:tc gridSpan="2">
                  <a:txBody>
                    <a:bodyPr/>
                    <a:lstStyle/>
                    <a:p>
                      <a:pPr indent="0" lvl="0" marL="0" rtl="0" algn="l">
                        <a:spcBef>
                          <a:spcPts val="0"/>
                        </a:spcBef>
                        <a:spcAft>
                          <a:spcPts val="0"/>
                        </a:spcAft>
                        <a:buNone/>
                      </a:pPr>
                      <a:r>
                        <a:rPr lang="en"/>
                        <a:t>Median House Price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hMerge="1"/>
              </a:tr>
              <a:tr h="368800">
                <a:tc>
                  <a:txBody>
                    <a:bodyPr/>
                    <a:lstStyle/>
                    <a:p>
                      <a:pPr indent="0" lvl="0" marL="0" rtl="0" algn="l">
                        <a:spcBef>
                          <a:spcPts val="0"/>
                        </a:spcBef>
                        <a:spcAft>
                          <a:spcPts val="0"/>
                        </a:spcAft>
                        <a:buNone/>
                      </a:pPr>
                      <a:r>
                        <a:rPr lang="en"/>
                        <a:t>EVAC_ZONE A</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$515,000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68800">
                <a:tc>
                  <a:txBody>
                    <a:bodyPr/>
                    <a:lstStyle/>
                    <a:p>
                      <a:pPr indent="0" lvl="0" marL="0" rtl="0" algn="l">
                        <a:spcBef>
                          <a:spcPts val="0"/>
                        </a:spcBef>
                        <a:spcAft>
                          <a:spcPts val="0"/>
                        </a:spcAft>
                        <a:buNone/>
                      </a:pPr>
                      <a:r>
                        <a:rPr lang="en"/>
                        <a:t>Other</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$310,000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pic>
        <p:nvPicPr>
          <p:cNvPr id="209" name="Google Shape;209;p30"/>
          <p:cNvPicPr preferRelativeResize="0"/>
          <p:nvPr/>
        </p:nvPicPr>
        <p:blipFill>
          <a:blip r:embed="rId4">
            <a:alphaModFix/>
          </a:blip>
          <a:stretch>
            <a:fillRect/>
          </a:stretch>
        </p:blipFill>
        <p:spPr>
          <a:xfrm>
            <a:off x="29150" y="2486625"/>
            <a:ext cx="2952676" cy="2357075"/>
          </a:xfrm>
          <a:prstGeom prst="rect">
            <a:avLst/>
          </a:prstGeom>
          <a:noFill/>
          <a:ln>
            <a:noFill/>
          </a:ln>
        </p:spPr>
      </p:pic>
      <p:graphicFrame>
        <p:nvGraphicFramePr>
          <p:cNvPr id="210" name="Google Shape;210;p30"/>
          <p:cNvGraphicFramePr/>
          <p:nvPr/>
        </p:nvGraphicFramePr>
        <p:xfrm>
          <a:off x="6118975" y="1228625"/>
          <a:ext cx="3000000" cy="3000000"/>
        </p:xfrm>
        <a:graphic>
          <a:graphicData uri="http://schemas.openxmlformats.org/drawingml/2006/table">
            <a:tbl>
              <a:tblPr>
                <a:noFill/>
                <a:tableStyleId>{60964846-391A-4D72-B66E-B3296B86AEE8}</a:tableStyleId>
              </a:tblPr>
              <a:tblGrid>
                <a:gridCol w="1476350"/>
                <a:gridCol w="1476350"/>
              </a:tblGrid>
              <a:tr h="368800">
                <a:tc gridSpan="2">
                  <a:txBody>
                    <a:bodyPr/>
                    <a:lstStyle/>
                    <a:p>
                      <a:pPr indent="0" lvl="0" marL="0" rtl="0" algn="l">
                        <a:spcBef>
                          <a:spcPts val="0"/>
                        </a:spcBef>
                        <a:spcAft>
                          <a:spcPts val="0"/>
                        </a:spcAft>
                        <a:buNone/>
                      </a:pPr>
                      <a:r>
                        <a:rPr lang="en"/>
                        <a:t>Median House Price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hMerge="1"/>
              </a:tr>
              <a:tr h="368800">
                <a:tc>
                  <a:txBody>
                    <a:bodyPr/>
                    <a:lstStyle/>
                    <a:p>
                      <a:pPr indent="0" lvl="0" marL="0" rtl="0" algn="l">
                        <a:spcBef>
                          <a:spcPts val="0"/>
                        </a:spcBef>
                        <a:spcAft>
                          <a:spcPts val="0"/>
                        </a:spcAft>
                        <a:buNone/>
                      </a:pPr>
                      <a:r>
                        <a:rPr lang="en"/>
                        <a:t>Waterfront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$875,000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68800">
                <a:tc>
                  <a:txBody>
                    <a:bodyPr/>
                    <a:lstStyle/>
                    <a:p>
                      <a:pPr indent="0" lvl="0" marL="0" rtl="0" algn="l">
                        <a:spcBef>
                          <a:spcPts val="0"/>
                        </a:spcBef>
                        <a:spcAft>
                          <a:spcPts val="0"/>
                        </a:spcAft>
                        <a:buNone/>
                      </a:pPr>
                      <a:r>
                        <a:rPr lang="en"/>
                        <a:t>No Waterfront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$320,000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pic>
        <p:nvPicPr>
          <p:cNvPr id="211" name="Google Shape;211;p30"/>
          <p:cNvPicPr preferRelativeResize="0"/>
          <p:nvPr/>
        </p:nvPicPr>
        <p:blipFill>
          <a:blip r:embed="rId5">
            <a:alphaModFix/>
          </a:blip>
          <a:stretch>
            <a:fillRect/>
          </a:stretch>
        </p:blipFill>
        <p:spPr>
          <a:xfrm>
            <a:off x="6099875" y="2460141"/>
            <a:ext cx="2952676" cy="235705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Explorations</a:t>
            </a:r>
            <a:endParaRPr/>
          </a:p>
        </p:txBody>
      </p:sp>
      <p:sp>
        <p:nvSpPr>
          <p:cNvPr id="217" name="Google Shape;21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features affected median price the most?</a:t>
            </a:r>
            <a:endParaRPr/>
          </a:p>
          <a:p>
            <a:pPr indent="0" lvl="0" marL="0" rtl="0" algn="l">
              <a:spcBef>
                <a:spcPts val="1200"/>
              </a:spcBef>
              <a:spcAft>
                <a:spcPts val="0"/>
              </a:spcAft>
              <a:buNone/>
            </a:pPr>
            <a:r>
              <a:rPr lang="en"/>
              <a:t>Size: Hard to say how it affects price, but is effective at predicting price.</a:t>
            </a:r>
            <a:endParaRPr/>
          </a:p>
          <a:p>
            <a:pPr indent="0" lvl="0" marL="0" rtl="0" algn="l">
              <a:spcBef>
                <a:spcPts val="1200"/>
              </a:spcBef>
              <a:spcAft>
                <a:spcPts val="0"/>
              </a:spcAft>
              <a:buNone/>
            </a:pPr>
            <a:r>
              <a:rPr lang="en"/>
              <a:t>City/ZIP: Beach towns has a +$50k effect on the median price. Hard to determine ZIP’s effect on the median.</a:t>
            </a:r>
            <a:endParaRPr/>
          </a:p>
          <a:p>
            <a:pPr indent="0" lvl="0" marL="0" rtl="0" algn="l">
              <a:spcBef>
                <a:spcPts val="1200"/>
              </a:spcBef>
              <a:spcAft>
                <a:spcPts val="0"/>
              </a:spcAft>
              <a:buNone/>
            </a:pPr>
            <a:r>
              <a:rPr lang="en"/>
              <a:t>Construction: Hard tile, wood, and marble floors increase price by $800k. An elevated house raises price by at least $285k. A concrete tile/metal roof is worth an extra $200k. Having no central cooling costs $160k.</a:t>
            </a:r>
            <a:endParaRPr/>
          </a:p>
          <a:p>
            <a:pPr indent="0" lvl="0" marL="0" rtl="0" algn="l">
              <a:spcBef>
                <a:spcPts val="1200"/>
              </a:spcBef>
              <a:spcAft>
                <a:spcPts val="1200"/>
              </a:spcAft>
              <a:buNone/>
            </a:pPr>
            <a:r>
              <a:rPr lang="en"/>
              <a:t>Seawall: +$500k		Waterfront: +$500k 		Evac_Zone A: +$200k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Importing old and new data</a:t>
            </a:r>
            <a:endParaRPr/>
          </a:p>
        </p:txBody>
      </p:sp>
      <p:sp>
        <p:nvSpPr>
          <p:cNvPr id="223" name="Google Shape;223;p32"/>
          <p:cNvSpPr txBox="1"/>
          <p:nvPr/>
        </p:nvSpPr>
        <p:spPr>
          <a:xfrm>
            <a:off x="5539100" y="1157375"/>
            <a:ext cx="2136600" cy="8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Imported Original Cleaned Dataset and New Test set</a:t>
            </a:r>
            <a:endParaRPr sz="1800">
              <a:solidFill>
                <a:schemeClr val="lt2"/>
              </a:solidFill>
            </a:endParaRPr>
          </a:p>
        </p:txBody>
      </p:sp>
      <p:sp>
        <p:nvSpPr>
          <p:cNvPr id="224" name="Google Shape;224;p32"/>
          <p:cNvSpPr txBox="1"/>
          <p:nvPr/>
        </p:nvSpPr>
        <p:spPr>
          <a:xfrm>
            <a:off x="147800" y="2455100"/>
            <a:ext cx="2693400" cy="81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Cleaned new test set to match previous wrangling</a:t>
            </a:r>
            <a:endParaRPr sz="1800">
              <a:solidFill>
                <a:schemeClr val="lt2"/>
              </a:solidFill>
            </a:endParaRPr>
          </a:p>
        </p:txBody>
      </p:sp>
      <p:sp>
        <p:nvSpPr>
          <p:cNvPr id="225" name="Google Shape;225;p32"/>
          <p:cNvSpPr txBox="1"/>
          <p:nvPr/>
        </p:nvSpPr>
        <p:spPr>
          <a:xfrm>
            <a:off x="4677925" y="3907038"/>
            <a:ext cx="2424000" cy="6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Splitting datasets into Xs and Ys </a:t>
            </a:r>
            <a:endParaRPr i="1" sz="1800">
              <a:solidFill>
                <a:schemeClr val="lt2"/>
              </a:solidFill>
            </a:endParaRPr>
          </a:p>
        </p:txBody>
      </p:sp>
      <p:pic>
        <p:nvPicPr>
          <p:cNvPr id="226" name="Google Shape;226;p32"/>
          <p:cNvPicPr preferRelativeResize="0"/>
          <p:nvPr/>
        </p:nvPicPr>
        <p:blipFill>
          <a:blip r:embed="rId3">
            <a:alphaModFix/>
          </a:blip>
          <a:stretch>
            <a:fillRect/>
          </a:stretch>
        </p:blipFill>
        <p:spPr>
          <a:xfrm>
            <a:off x="537255" y="1593738"/>
            <a:ext cx="4518500" cy="529937"/>
          </a:xfrm>
          <a:prstGeom prst="rect">
            <a:avLst/>
          </a:prstGeom>
          <a:noFill/>
          <a:ln>
            <a:noFill/>
          </a:ln>
        </p:spPr>
      </p:pic>
      <p:pic>
        <p:nvPicPr>
          <p:cNvPr id="227" name="Google Shape;227;p32"/>
          <p:cNvPicPr preferRelativeResize="0"/>
          <p:nvPr/>
        </p:nvPicPr>
        <p:blipFill>
          <a:blip r:embed="rId4">
            <a:alphaModFix/>
          </a:blip>
          <a:stretch>
            <a:fillRect/>
          </a:stretch>
        </p:blipFill>
        <p:spPr>
          <a:xfrm>
            <a:off x="537249" y="1063800"/>
            <a:ext cx="4858826" cy="529938"/>
          </a:xfrm>
          <a:prstGeom prst="rect">
            <a:avLst/>
          </a:prstGeom>
          <a:noFill/>
          <a:ln>
            <a:noFill/>
          </a:ln>
        </p:spPr>
      </p:pic>
      <p:pic>
        <p:nvPicPr>
          <p:cNvPr id="228" name="Google Shape;228;p32"/>
          <p:cNvPicPr preferRelativeResize="0"/>
          <p:nvPr/>
        </p:nvPicPr>
        <p:blipFill>
          <a:blip r:embed="rId5">
            <a:alphaModFix/>
          </a:blip>
          <a:stretch>
            <a:fillRect/>
          </a:stretch>
        </p:blipFill>
        <p:spPr>
          <a:xfrm>
            <a:off x="2841200" y="2497100"/>
            <a:ext cx="2800350" cy="866775"/>
          </a:xfrm>
          <a:prstGeom prst="rect">
            <a:avLst/>
          </a:prstGeom>
          <a:noFill/>
          <a:ln>
            <a:noFill/>
          </a:ln>
        </p:spPr>
      </p:pic>
      <p:pic>
        <p:nvPicPr>
          <p:cNvPr id="229" name="Google Shape;229;p32"/>
          <p:cNvPicPr preferRelativeResize="0"/>
          <p:nvPr/>
        </p:nvPicPr>
        <p:blipFill>
          <a:blip r:embed="rId6">
            <a:alphaModFix/>
          </a:blip>
          <a:stretch>
            <a:fillRect/>
          </a:stretch>
        </p:blipFill>
        <p:spPr>
          <a:xfrm>
            <a:off x="484175" y="3700162"/>
            <a:ext cx="3829050" cy="1057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3"/>
          <p:cNvPicPr preferRelativeResize="0"/>
          <p:nvPr/>
        </p:nvPicPr>
        <p:blipFill>
          <a:blip r:embed="rId3">
            <a:alphaModFix/>
          </a:blip>
          <a:stretch>
            <a:fillRect/>
          </a:stretch>
        </p:blipFill>
        <p:spPr>
          <a:xfrm>
            <a:off x="422675" y="2204188"/>
            <a:ext cx="8298650" cy="979837"/>
          </a:xfrm>
          <a:prstGeom prst="rect">
            <a:avLst/>
          </a:prstGeom>
          <a:noFill/>
          <a:ln>
            <a:noFill/>
          </a:ln>
        </p:spPr>
      </p:pic>
      <p:sp>
        <p:nvSpPr>
          <p:cNvPr id="235" name="Google Shape;23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Train/Test Split</a:t>
            </a:r>
            <a:endParaRPr/>
          </a:p>
        </p:txBody>
      </p:sp>
      <p:sp>
        <p:nvSpPr>
          <p:cNvPr id="236" name="Google Shape;236;p33"/>
          <p:cNvSpPr txBox="1"/>
          <p:nvPr/>
        </p:nvSpPr>
        <p:spPr>
          <a:xfrm>
            <a:off x="1155300" y="1556100"/>
            <a:ext cx="6520500" cy="49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I split the original sales data into a test train split. Y values were left untouched for the rest of the preprocessing.</a:t>
            </a:r>
            <a:endParaRPr sz="1800">
              <a:solidFill>
                <a:schemeClr val="lt2"/>
              </a:solidFill>
            </a:endParaRPr>
          </a:p>
        </p:txBody>
      </p:sp>
      <p:sp>
        <p:nvSpPr>
          <p:cNvPr id="237" name="Google Shape;237;p33"/>
          <p:cNvSpPr txBox="1"/>
          <p:nvPr/>
        </p:nvSpPr>
        <p:spPr>
          <a:xfrm>
            <a:off x="311700" y="31508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Creating a set of numeric X datasets.</a:t>
            </a:r>
            <a:endParaRPr sz="1800">
              <a:solidFill>
                <a:schemeClr val="lt2"/>
              </a:solidFill>
            </a:endParaRPr>
          </a:p>
        </p:txBody>
      </p:sp>
      <p:sp>
        <p:nvSpPr>
          <p:cNvPr id="238" name="Google Shape;238;p33"/>
          <p:cNvSpPr txBox="1"/>
          <p:nvPr/>
        </p:nvSpPr>
        <p:spPr>
          <a:xfrm>
            <a:off x="5095325" y="3907050"/>
            <a:ext cx="3029700" cy="6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Creating a set of categorical X datasets.</a:t>
            </a:r>
            <a:endParaRPr i="1" sz="1800">
              <a:solidFill>
                <a:schemeClr val="lt2"/>
              </a:solidFill>
            </a:endParaRPr>
          </a:p>
        </p:txBody>
      </p:sp>
      <p:pic>
        <p:nvPicPr>
          <p:cNvPr id="239" name="Google Shape;239;p33"/>
          <p:cNvPicPr preferRelativeResize="0"/>
          <p:nvPr/>
        </p:nvPicPr>
        <p:blipFill>
          <a:blip r:embed="rId4">
            <a:alphaModFix/>
          </a:blip>
          <a:stretch>
            <a:fillRect/>
          </a:stretch>
        </p:blipFill>
        <p:spPr>
          <a:xfrm>
            <a:off x="395850" y="1172276"/>
            <a:ext cx="8039401" cy="308900"/>
          </a:xfrm>
          <a:prstGeom prst="rect">
            <a:avLst/>
          </a:prstGeom>
          <a:noFill/>
          <a:ln>
            <a:noFill/>
          </a:ln>
        </p:spPr>
      </p:pic>
      <p:pic>
        <p:nvPicPr>
          <p:cNvPr id="240" name="Google Shape;240;p33"/>
          <p:cNvPicPr preferRelativeResize="0"/>
          <p:nvPr/>
        </p:nvPicPr>
        <p:blipFill>
          <a:blip r:embed="rId5">
            <a:alphaModFix/>
          </a:blip>
          <a:stretch>
            <a:fillRect/>
          </a:stretch>
        </p:blipFill>
        <p:spPr>
          <a:xfrm>
            <a:off x="208800" y="3907038"/>
            <a:ext cx="4819650" cy="695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Numeric values</a:t>
            </a:r>
            <a:endParaRPr/>
          </a:p>
        </p:txBody>
      </p:sp>
      <p:pic>
        <p:nvPicPr>
          <p:cNvPr id="246" name="Google Shape;246;p34"/>
          <p:cNvPicPr preferRelativeResize="0"/>
          <p:nvPr/>
        </p:nvPicPr>
        <p:blipFill>
          <a:blip r:embed="rId3">
            <a:alphaModFix/>
          </a:blip>
          <a:stretch>
            <a:fillRect/>
          </a:stretch>
        </p:blipFill>
        <p:spPr>
          <a:xfrm>
            <a:off x="2976875" y="1058513"/>
            <a:ext cx="5855425" cy="891950"/>
          </a:xfrm>
          <a:prstGeom prst="rect">
            <a:avLst/>
          </a:prstGeom>
          <a:noFill/>
          <a:ln>
            <a:noFill/>
          </a:ln>
        </p:spPr>
      </p:pic>
      <p:pic>
        <p:nvPicPr>
          <p:cNvPr id="247" name="Google Shape;247;p34"/>
          <p:cNvPicPr preferRelativeResize="0"/>
          <p:nvPr/>
        </p:nvPicPr>
        <p:blipFill>
          <a:blip r:embed="rId4">
            <a:alphaModFix/>
          </a:blip>
          <a:stretch>
            <a:fillRect/>
          </a:stretch>
        </p:blipFill>
        <p:spPr>
          <a:xfrm>
            <a:off x="147800" y="2289500"/>
            <a:ext cx="6331675" cy="983000"/>
          </a:xfrm>
          <a:prstGeom prst="rect">
            <a:avLst/>
          </a:prstGeom>
          <a:noFill/>
          <a:ln>
            <a:noFill/>
          </a:ln>
        </p:spPr>
      </p:pic>
      <p:sp>
        <p:nvSpPr>
          <p:cNvPr id="248" name="Google Shape;248;p34"/>
          <p:cNvSpPr txBox="1"/>
          <p:nvPr/>
        </p:nvSpPr>
        <p:spPr>
          <a:xfrm>
            <a:off x="147800" y="1182750"/>
            <a:ext cx="2693400" cy="6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Numeric datasets had columns added with log transformations</a:t>
            </a:r>
            <a:endParaRPr sz="1800">
              <a:solidFill>
                <a:schemeClr val="lt2"/>
              </a:solidFill>
            </a:endParaRPr>
          </a:p>
        </p:txBody>
      </p:sp>
      <p:sp>
        <p:nvSpPr>
          <p:cNvPr id="249" name="Google Shape;249;p34"/>
          <p:cNvSpPr txBox="1"/>
          <p:nvPr/>
        </p:nvSpPr>
        <p:spPr>
          <a:xfrm>
            <a:off x="6582925" y="2459250"/>
            <a:ext cx="2424000" cy="6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Numeric datasets were s</a:t>
            </a:r>
            <a:r>
              <a:rPr lang="en" sz="1800">
                <a:solidFill>
                  <a:schemeClr val="lt2"/>
                </a:solidFill>
              </a:rPr>
              <a:t>caled with </a:t>
            </a:r>
            <a:r>
              <a:rPr i="1" lang="en" sz="1800">
                <a:solidFill>
                  <a:schemeClr val="lt2"/>
                </a:solidFill>
              </a:rPr>
              <a:t>StandardScaler</a:t>
            </a:r>
            <a:endParaRPr i="1" sz="1800">
              <a:solidFill>
                <a:schemeClr val="l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Categorical features</a:t>
            </a:r>
            <a:endParaRPr/>
          </a:p>
        </p:txBody>
      </p:sp>
      <p:sp>
        <p:nvSpPr>
          <p:cNvPr id="255" name="Google Shape;255;p35"/>
          <p:cNvSpPr txBox="1"/>
          <p:nvPr/>
        </p:nvSpPr>
        <p:spPr>
          <a:xfrm>
            <a:off x="6355350" y="1100675"/>
            <a:ext cx="2136600" cy="9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Condensing features to fewer values</a:t>
            </a:r>
            <a:endParaRPr sz="1800">
              <a:solidFill>
                <a:schemeClr val="lt2"/>
              </a:solidFill>
            </a:endParaRPr>
          </a:p>
        </p:txBody>
      </p:sp>
      <p:sp>
        <p:nvSpPr>
          <p:cNvPr id="256" name="Google Shape;256;p35"/>
          <p:cNvSpPr txBox="1"/>
          <p:nvPr/>
        </p:nvSpPr>
        <p:spPr>
          <a:xfrm>
            <a:off x="70575" y="2503888"/>
            <a:ext cx="2693400" cy="6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Creating and fitting a One-hot Encoder</a:t>
            </a:r>
            <a:endParaRPr sz="1800">
              <a:solidFill>
                <a:schemeClr val="lt2"/>
              </a:solidFill>
            </a:endParaRPr>
          </a:p>
        </p:txBody>
      </p:sp>
      <p:sp>
        <p:nvSpPr>
          <p:cNvPr id="257" name="Google Shape;257;p35"/>
          <p:cNvSpPr txBox="1"/>
          <p:nvPr/>
        </p:nvSpPr>
        <p:spPr>
          <a:xfrm>
            <a:off x="5686050" y="3642500"/>
            <a:ext cx="3256500" cy="13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Transforming a column which gets turned into a new DataFrame and concatenated with the numeric DataFrames</a:t>
            </a:r>
            <a:endParaRPr i="1" sz="1800">
              <a:solidFill>
                <a:schemeClr val="lt2"/>
              </a:solidFill>
            </a:endParaRPr>
          </a:p>
        </p:txBody>
      </p:sp>
      <p:pic>
        <p:nvPicPr>
          <p:cNvPr id="258" name="Google Shape;258;p35"/>
          <p:cNvPicPr preferRelativeResize="0"/>
          <p:nvPr/>
        </p:nvPicPr>
        <p:blipFill>
          <a:blip r:embed="rId3">
            <a:alphaModFix/>
          </a:blip>
          <a:stretch>
            <a:fillRect/>
          </a:stretch>
        </p:blipFill>
        <p:spPr>
          <a:xfrm>
            <a:off x="147799" y="1270474"/>
            <a:ext cx="6093389" cy="643500"/>
          </a:xfrm>
          <a:prstGeom prst="rect">
            <a:avLst/>
          </a:prstGeom>
          <a:noFill/>
          <a:ln>
            <a:noFill/>
          </a:ln>
        </p:spPr>
      </p:pic>
      <p:pic>
        <p:nvPicPr>
          <p:cNvPr id="259" name="Google Shape;259;p35"/>
          <p:cNvPicPr preferRelativeResize="0"/>
          <p:nvPr/>
        </p:nvPicPr>
        <p:blipFill>
          <a:blip r:embed="rId4">
            <a:alphaModFix/>
          </a:blip>
          <a:stretch>
            <a:fillRect/>
          </a:stretch>
        </p:blipFill>
        <p:spPr>
          <a:xfrm>
            <a:off x="2903475" y="2151275"/>
            <a:ext cx="5471243" cy="1348725"/>
          </a:xfrm>
          <a:prstGeom prst="rect">
            <a:avLst/>
          </a:prstGeom>
          <a:noFill/>
          <a:ln>
            <a:noFill/>
          </a:ln>
        </p:spPr>
      </p:pic>
      <p:pic>
        <p:nvPicPr>
          <p:cNvPr id="260" name="Google Shape;260;p35"/>
          <p:cNvPicPr preferRelativeResize="0"/>
          <p:nvPr/>
        </p:nvPicPr>
        <p:blipFill>
          <a:blip r:embed="rId5">
            <a:alphaModFix/>
          </a:blip>
          <a:stretch>
            <a:fillRect/>
          </a:stretch>
        </p:blipFill>
        <p:spPr>
          <a:xfrm>
            <a:off x="70575" y="3642500"/>
            <a:ext cx="5381625" cy="628650"/>
          </a:xfrm>
          <a:prstGeom prst="rect">
            <a:avLst/>
          </a:prstGeom>
          <a:noFill/>
          <a:ln>
            <a:noFill/>
          </a:ln>
        </p:spPr>
      </p:pic>
      <p:pic>
        <p:nvPicPr>
          <p:cNvPr id="261" name="Google Shape;261;p35"/>
          <p:cNvPicPr preferRelativeResize="0"/>
          <p:nvPr/>
        </p:nvPicPr>
        <p:blipFill>
          <a:blip r:embed="rId6">
            <a:alphaModFix/>
          </a:blip>
          <a:stretch>
            <a:fillRect/>
          </a:stretch>
        </p:blipFill>
        <p:spPr>
          <a:xfrm>
            <a:off x="70575" y="4271150"/>
            <a:ext cx="5540385" cy="840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311700" y="445025"/>
            <a:ext cx="629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a:t>
            </a:r>
            <a:endParaRPr/>
          </a:p>
        </p:txBody>
      </p:sp>
      <p:sp>
        <p:nvSpPr>
          <p:cNvPr id="267" name="Google Shape;267;p36"/>
          <p:cNvSpPr txBox="1"/>
          <p:nvPr/>
        </p:nvSpPr>
        <p:spPr>
          <a:xfrm>
            <a:off x="311700" y="1017725"/>
            <a:ext cx="8631000" cy="3973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Char char="●"/>
            </a:pPr>
            <a:r>
              <a:rPr lang="en" sz="1800">
                <a:solidFill>
                  <a:schemeClr val="lt2"/>
                </a:solidFill>
              </a:rPr>
              <a:t>Imported </a:t>
            </a:r>
            <a:r>
              <a:rPr lang="en" sz="1800">
                <a:solidFill>
                  <a:schemeClr val="lt2"/>
                </a:solidFill>
              </a:rPr>
              <a:t>training and testing data</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Evaluated a pair of Dummy Regressors</a:t>
            </a:r>
            <a:endParaRPr sz="1800">
              <a:solidFill>
                <a:schemeClr val="lt2"/>
              </a:solidFill>
            </a:endParaRPr>
          </a:p>
          <a:p>
            <a:pPr indent="-342900" lvl="1" marL="914400" rtl="0" algn="l">
              <a:spcBef>
                <a:spcPts val="0"/>
              </a:spcBef>
              <a:spcAft>
                <a:spcPts val="0"/>
              </a:spcAft>
              <a:buClr>
                <a:schemeClr val="lt2"/>
              </a:buClr>
              <a:buSzPts val="1800"/>
              <a:buChar char="○"/>
            </a:pPr>
            <a:r>
              <a:rPr lang="en" sz="1800">
                <a:solidFill>
                  <a:schemeClr val="lt2"/>
                </a:solidFill>
              </a:rPr>
              <a:t>One used predicting the mean, the other the median</a:t>
            </a:r>
            <a:endParaRPr sz="1800">
              <a:solidFill>
                <a:schemeClr val="lt2"/>
              </a:solidFill>
            </a:endParaRPr>
          </a:p>
          <a:p>
            <a:pPr indent="0" lvl="0" marL="0" rtl="0" algn="l">
              <a:spcBef>
                <a:spcPts val="0"/>
              </a:spcBef>
              <a:spcAft>
                <a:spcPts val="0"/>
              </a:spcAft>
              <a:buNone/>
            </a:pPr>
            <a:r>
              <a:t/>
            </a:r>
            <a:endParaRPr sz="1800">
              <a:solidFill>
                <a:schemeClr val="lt2"/>
              </a:solidFill>
            </a:endParaRPr>
          </a:p>
        </p:txBody>
      </p:sp>
      <p:pic>
        <p:nvPicPr>
          <p:cNvPr id="268" name="Google Shape;268;p36"/>
          <p:cNvPicPr preferRelativeResize="0"/>
          <p:nvPr/>
        </p:nvPicPr>
        <p:blipFill>
          <a:blip r:embed="rId3">
            <a:alphaModFix/>
          </a:blip>
          <a:stretch>
            <a:fillRect/>
          </a:stretch>
        </p:blipFill>
        <p:spPr>
          <a:xfrm>
            <a:off x="311688" y="2215225"/>
            <a:ext cx="3838575" cy="2114550"/>
          </a:xfrm>
          <a:prstGeom prst="rect">
            <a:avLst/>
          </a:prstGeom>
          <a:noFill/>
          <a:ln>
            <a:noFill/>
          </a:ln>
        </p:spPr>
      </p:pic>
      <p:pic>
        <p:nvPicPr>
          <p:cNvPr id="269" name="Google Shape;269;p36"/>
          <p:cNvPicPr preferRelativeResize="0"/>
          <p:nvPr/>
        </p:nvPicPr>
        <p:blipFill>
          <a:blip r:embed="rId4">
            <a:alphaModFix/>
          </a:blip>
          <a:stretch>
            <a:fillRect/>
          </a:stretch>
        </p:blipFill>
        <p:spPr>
          <a:xfrm>
            <a:off x="4643525" y="2205700"/>
            <a:ext cx="3657600" cy="2133600"/>
          </a:xfrm>
          <a:prstGeom prst="rect">
            <a:avLst/>
          </a:prstGeom>
          <a:noFill/>
          <a:ln>
            <a:noFill/>
          </a:ln>
        </p:spPr>
      </p:pic>
      <p:sp>
        <p:nvSpPr>
          <p:cNvPr id="270" name="Google Shape;270;p36"/>
          <p:cNvSpPr txBox="1"/>
          <p:nvPr/>
        </p:nvSpPr>
        <p:spPr>
          <a:xfrm>
            <a:off x="6192250" y="120350"/>
            <a:ext cx="2750700" cy="7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Best Training MAPE: .52</a:t>
            </a:r>
            <a:endParaRPr sz="1800">
              <a:solidFill>
                <a:schemeClr val="lt2"/>
              </a:solidFill>
            </a:endParaRPr>
          </a:p>
          <a:p>
            <a:pPr indent="0" lvl="0" marL="0" rtl="0" algn="l">
              <a:spcBef>
                <a:spcPts val="0"/>
              </a:spcBef>
              <a:spcAft>
                <a:spcPts val="0"/>
              </a:spcAft>
              <a:buNone/>
            </a:pPr>
            <a:r>
              <a:rPr lang="en" sz="1800">
                <a:solidFill>
                  <a:schemeClr val="lt2"/>
                </a:solidFill>
              </a:rPr>
              <a:t>Best Testing MAPE: .72</a:t>
            </a:r>
            <a:endParaRPr sz="1800">
              <a:solidFill>
                <a:schemeClr val="lt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311700" y="445025"/>
            <a:ext cx="629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Trying Basic Models </a:t>
            </a:r>
            <a:endParaRPr/>
          </a:p>
        </p:txBody>
      </p:sp>
      <p:sp>
        <p:nvSpPr>
          <p:cNvPr id="276" name="Google Shape;276;p37"/>
          <p:cNvSpPr txBox="1"/>
          <p:nvPr/>
        </p:nvSpPr>
        <p:spPr>
          <a:xfrm>
            <a:off x="6306850" y="43325"/>
            <a:ext cx="2750700" cy="9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.52</a:t>
            </a:r>
            <a:endParaRPr sz="1800">
              <a:solidFill>
                <a:schemeClr val="lt2"/>
              </a:solidFill>
            </a:endParaRPr>
          </a:p>
          <a:p>
            <a:pPr indent="0" lvl="0" marL="0" rtl="0" algn="l">
              <a:spcBef>
                <a:spcPts val="0"/>
              </a:spcBef>
              <a:spcAft>
                <a:spcPts val="0"/>
              </a:spcAft>
              <a:buNone/>
            </a:pPr>
            <a:r>
              <a:rPr lang="en" sz="1800">
                <a:solidFill>
                  <a:schemeClr val="lt2"/>
                </a:solidFill>
              </a:rPr>
              <a:t>Testing MAPE: .72</a:t>
            </a:r>
            <a:endParaRPr sz="1800">
              <a:solidFill>
                <a:schemeClr val="lt2"/>
              </a:solidFill>
            </a:endParaRPr>
          </a:p>
          <a:p>
            <a:pPr indent="0" lvl="0" marL="0" rtl="0" algn="l">
              <a:spcBef>
                <a:spcPts val="0"/>
              </a:spcBef>
              <a:spcAft>
                <a:spcPts val="0"/>
              </a:spcAft>
              <a:buNone/>
            </a:pPr>
            <a:r>
              <a:rPr lang="en" sz="1800">
                <a:solidFill>
                  <a:schemeClr val="lt2"/>
                </a:solidFill>
              </a:rPr>
              <a:t>Best Model: DummyReg</a:t>
            </a:r>
            <a:endParaRPr sz="1800">
              <a:solidFill>
                <a:schemeClr val="lt2"/>
              </a:solidFill>
            </a:endParaRPr>
          </a:p>
        </p:txBody>
      </p:sp>
      <p:pic>
        <p:nvPicPr>
          <p:cNvPr id="277" name="Google Shape;277;p37"/>
          <p:cNvPicPr preferRelativeResize="0"/>
          <p:nvPr/>
        </p:nvPicPr>
        <p:blipFill>
          <a:blip r:embed="rId3">
            <a:alphaModFix/>
          </a:blip>
          <a:stretch>
            <a:fillRect/>
          </a:stretch>
        </p:blipFill>
        <p:spPr>
          <a:xfrm>
            <a:off x="381650" y="1170125"/>
            <a:ext cx="3115092" cy="1782625"/>
          </a:xfrm>
          <a:prstGeom prst="rect">
            <a:avLst/>
          </a:prstGeom>
          <a:noFill/>
          <a:ln>
            <a:noFill/>
          </a:ln>
        </p:spPr>
      </p:pic>
      <p:pic>
        <p:nvPicPr>
          <p:cNvPr id="278" name="Google Shape;278;p37"/>
          <p:cNvPicPr preferRelativeResize="0"/>
          <p:nvPr/>
        </p:nvPicPr>
        <p:blipFill>
          <a:blip r:embed="rId4">
            <a:alphaModFix/>
          </a:blip>
          <a:stretch>
            <a:fillRect/>
          </a:stretch>
        </p:blipFill>
        <p:spPr>
          <a:xfrm>
            <a:off x="3743725" y="1170125"/>
            <a:ext cx="3257589" cy="1782625"/>
          </a:xfrm>
          <a:prstGeom prst="rect">
            <a:avLst/>
          </a:prstGeom>
          <a:noFill/>
          <a:ln>
            <a:noFill/>
          </a:ln>
        </p:spPr>
      </p:pic>
      <p:pic>
        <p:nvPicPr>
          <p:cNvPr id="279" name="Google Shape;279;p37"/>
          <p:cNvPicPr preferRelativeResize="0"/>
          <p:nvPr/>
        </p:nvPicPr>
        <p:blipFill>
          <a:blip r:embed="rId5">
            <a:alphaModFix/>
          </a:blip>
          <a:stretch>
            <a:fillRect/>
          </a:stretch>
        </p:blipFill>
        <p:spPr>
          <a:xfrm>
            <a:off x="381650" y="3208475"/>
            <a:ext cx="3052202" cy="1782625"/>
          </a:xfrm>
          <a:prstGeom prst="rect">
            <a:avLst/>
          </a:prstGeom>
          <a:noFill/>
          <a:ln>
            <a:noFill/>
          </a:ln>
        </p:spPr>
      </p:pic>
      <p:pic>
        <p:nvPicPr>
          <p:cNvPr id="280" name="Google Shape;280;p37"/>
          <p:cNvPicPr preferRelativeResize="0"/>
          <p:nvPr/>
        </p:nvPicPr>
        <p:blipFill>
          <a:blip r:embed="rId6">
            <a:alphaModFix/>
          </a:blip>
          <a:stretch>
            <a:fillRect/>
          </a:stretch>
        </p:blipFill>
        <p:spPr>
          <a:xfrm>
            <a:off x="3743725" y="3214425"/>
            <a:ext cx="3052200" cy="179188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type="title"/>
          </p:nvPr>
        </p:nvSpPr>
        <p:spPr>
          <a:xfrm>
            <a:off x="311700" y="445025"/>
            <a:ext cx="629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Trying Basic Models </a:t>
            </a:r>
            <a:endParaRPr/>
          </a:p>
        </p:txBody>
      </p:sp>
      <p:sp>
        <p:nvSpPr>
          <p:cNvPr id="286" name="Google Shape;286;p38"/>
          <p:cNvSpPr txBox="1"/>
          <p:nvPr/>
        </p:nvSpPr>
        <p:spPr>
          <a:xfrm>
            <a:off x="6306850" y="43325"/>
            <a:ext cx="2750700" cy="9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.36</a:t>
            </a:r>
            <a:endParaRPr sz="1800">
              <a:solidFill>
                <a:schemeClr val="lt2"/>
              </a:solidFill>
            </a:endParaRPr>
          </a:p>
          <a:p>
            <a:pPr indent="0" lvl="0" marL="0" rtl="0" algn="l">
              <a:spcBef>
                <a:spcPts val="0"/>
              </a:spcBef>
              <a:spcAft>
                <a:spcPts val="0"/>
              </a:spcAft>
              <a:buNone/>
            </a:pPr>
            <a:r>
              <a:rPr lang="en" sz="1800">
                <a:solidFill>
                  <a:schemeClr val="lt2"/>
                </a:solidFill>
              </a:rPr>
              <a:t>Testing MAPE: .67</a:t>
            </a:r>
            <a:endParaRPr sz="1800">
              <a:solidFill>
                <a:schemeClr val="lt2"/>
              </a:solidFill>
            </a:endParaRPr>
          </a:p>
          <a:p>
            <a:pPr indent="0" lvl="0" marL="0" rtl="0" algn="l">
              <a:spcBef>
                <a:spcPts val="0"/>
              </a:spcBef>
              <a:spcAft>
                <a:spcPts val="0"/>
              </a:spcAft>
              <a:buNone/>
            </a:pPr>
            <a:r>
              <a:rPr lang="en" sz="1800">
                <a:solidFill>
                  <a:schemeClr val="lt2"/>
                </a:solidFill>
              </a:rPr>
              <a:t>Best Model: HGB_Reg</a:t>
            </a:r>
            <a:endParaRPr sz="1800">
              <a:solidFill>
                <a:schemeClr val="lt2"/>
              </a:solidFill>
            </a:endParaRPr>
          </a:p>
        </p:txBody>
      </p:sp>
      <p:pic>
        <p:nvPicPr>
          <p:cNvPr id="287" name="Google Shape;287;p38"/>
          <p:cNvPicPr preferRelativeResize="0"/>
          <p:nvPr/>
        </p:nvPicPr>
        <p:blipFill>
          <a:blip r:embed="rId3">
            <a:alphaModFix/>
          </a:blip>
          <a:stretch>
            <a:fillRect/>
          </a:stretch>
        </p:blipFill>
        <p:spPr>
          <a:xfrm>
            <a:off x="381650" y="1170125"/>
            <a:ext cx="3115092" cy="1782625"/>
          </a:xfrm>
          <a:prstGeom prst="rect">
            <a:avLst/>
          </a:prstGeom>
          <a:noFill/>
          <a:ln>
            <a:noFill/>
          </a:ln>
        </p:spPr>
      </p:pic>
      <p:pic>
        <p:nvPicPr>
          <p:cNvPr id="288" name="Google Shape;288;p38"/>
          <p:cNvPicPr preferRelativeResize="0"/>
          <p:nvPr/>
        </p:nvPicPr>
        <p:blipFill>
          <a:blip r:embed="rId4">
            <a:alphaModFix/>
          </a:blip>
          <a:stretch>
            <a:fillRect/>
          </a:stretch>
        </p:blipFill>
        <p:spPr>
          <a:xfrm>
            <a:off x="3743725" y="1170125"/>
            <a:ext cx="3257589" cy="1782625"/>
          </a:xfrm>
          <a:prstGeom prst="rect">
            <a:avLst/>
          </a:prstGeom>
          <a:noFill/>
          <a:ln>
            <a:noFill/>
          </a:ln>
        </p:spPr>
      </p:pic>
      <p:pic>
        <p:nvPicPr>
          <p:cNvPr id="289" name="Google Shape;289;p38"/>
          <p:cNvPicPr preferRelativeResize="0"/>
          <p:nvPr/>
        </p:nvPicPr>
        <p:blipFill>
          <a:blip r:embed="rId5">
            <a:alphaModFix/>
          </a:blip>
          <a:stretch>
            <a:fillRect/>
          </a:stretch>
        </p:blipFill>
        <p:spPr>
          <a:xfrm>
            <a:off x="381650" y="3208475"/>
            <a:ext cx="3052202" cy="1782625"/>
          </a:xfrm>
          <a:prstGeom prst="rect">
            <a:avLst/>
          </a:prstGeom>
          <a:noFill/>
          <a:ln>
            <a:noFill/>
          </a:ln>
        </p:spPr>
      </p:pic>
      <p:pic>
        <p:nvPicPr>
          <p:cNvPr id="290" name="Google Shape;290;p38"/>
          <p:cNvPicPr preferRelativeResize="0"/>
          <p:nvPr/>
        </p:nvPicPr>
        <p:blipFill>
          <a:blip r:embed="rId6">
            <a:alphaModFix/>
          </a:blip>
          <a:stretch>
            <a:fillRect/>
          </a:stretch>
        </p:blipFill>
        <p:spPr>
          <a:xfrm>
            <a:off x="3743725" y="3214425"/>
            <a:ext cx="3052200" cy="179188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type="title"/>
          </p:nvPr>
        </p:nvSpPr>
        <p:spPr>
          <a:xfrm>
            <a:off x="311700" y="445025"/>
            <a:ext cx="629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XGBoost Models </a:t>
            </a:r>
            <a:endParaRPr/>
          </a:p>
        </p:txBody>
      </p:sp>
      <p:sp>
        <p:nvSpPr>
          <p:cNvPr id="296" name="Google Shape;296;p39"/>
          <p:cNvSpPr txBox="1"/>
          <p:nvPr/>
        </p:nvSpPr>
        <p:spPr>
          <a:xfrm>
            <a:off x="6306850" y="43325"/>
            <a:ext cx="2750700" cy="9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.36</a:t>
            </a:r>
            <a:endParaRPr sz="1800">
              <a:solidFill>
                <a:schemeClr val="lt2"/>
              </a:solidFill>
            </a:endParaRPr>
          </a:p>
          <a:p>
            <a:pPr indent="0" lvl="0" marL="0" rtl="0" algn="l">
              <a:spcBef>
                <a:spcPts val="0"/>
              </a:spcBef>
              <a:spcAft>
                <a:spcPts val="0"/>
              </a:spcAft>
              <a:buNone/>
            </a:pPr>
            <a:r>
              <a:rPr lang="en" sz="1800">
                <a:solidFill>
                  <a:schemeClr val="lt2"/>
                </a:solidFill>
              </a:rPr>
              <a:t>Testing MAPE: .67</a:t>
            </a:r>
            <a:endParaRPr sz="1800">
              <a:solidFill>
                <a:schemeClr val="lt2"/>
              </a:solidFill>
            </a:endParaRPr>
          </a:p>
          <a:p>
            <a:pPr indent="0" lvl="0" marL="0" rtl="0" algn="l">
              <a:spcBef>
                <a:spcPts val="0"/>
              </a:spcBef>
              <a:spcAft>
                <a:spcPts val="0"/>
              </a:spcAft>
              <a:buNone/>
            </a:pPr>
            <a:r>
              <a:rPr lang="en" sz="1800">
                <a:solidFill>
                  <a:schemeClr val="lt2"/>
                </a:solidFill>
              </a:rPr>
              <a:t>Best Model: HGB_Reg</a:t>
            </a:r>
            <a:endParaRPr sz="1800">
              <a:solidFill>
                <a:schemeClr val="lt2"/>
              </a:solidFill>
            </a:endParaRPr>
          </a:p>
        </p:txBody>
      </p:sp>
      <p:pic>
        <p:nvPicPr>
          <p:cNvPr id="297" name="Google Shape;297;p39"/>
          <p:cNvPicPr preferRelativeResize="0"/>
          <p:nvPr/>
        </p:nvPicPr>
        <p:blipFill>
          <a:blip r:embed="rId3">
            <a:alphaModFix/>
          </a:blip>
          <a:stretch>
            <a:fillRect/>
          </a:stretch>
        </p:blipFill>
        <p:spPr>
          <a:xfrm>
            <a:off x="3743725" y="3214425"/>
            <a:ext cx="3052200" cy="1791885"/>
          </a:xfrm>
          <a:prstGeom prst="rect">
            <a:avLst/>
          </a:prstGeom>
          <a:noFill/>
          <a:ln>
            <a:noFill/>
          </a:ln>
        </p:spPr>
      </p:pic>
      <p:pic>
        <p:nvPicPr>
          <p:cNvPr id="298" name="Google Shape;298;p39"/>
          <p:cNvPicPr preferRelativeResize="0"/>
          <p:nvPr/>
        </p:nvPicPr>
        <p:blipFill>
          <a:blip r:embed="rId4">
            <a:alphaModFix/>
          </a:blip>
          <a:stretch>
            <a:fillRect/>
          </a:stretch>
        </p:blipFill>
        <p:spPr>
          <a:xfrm>
            <a:off x="228600" y="1170125"/>
            <a:ext cx="3314700" cy="1876425"/>
          </a:xfrm>
          <a:prstGeom prst="rect">
            <a:avLst/>
          </a:prstGeom>
          <a:noFill/>
          <a:ln>
            <a:noFill/>
          </a:ln>
        </p:spPr>
      </p:pic>
      <p:pic>
        <p:nvPicPr>
          <p:cNvPr id="299" name="Google Shape;299;p39"/>
          <p:cNvPicPr preferRelativeResize="0"/>
          <p:nvPr/>
        </p:nvPicPr>
        <p:blipFill>
          <a:blip r:embed="rId5">
            <a:alphaModFix/>
          </a:blip>
          <a:stretch>
            <a:fillRect/>
          </a:stretch>
        </p:blipFill>
        <p:spPr>
          <a:xfrm>
            <a:off x="3695700" y="1170125"/>
            <a:ext cx="3261897" cy="1891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Tuning the HGB_Regressor</a:t>
            </a:r>
            <a:endParaRPr/>
          </a:p>
        </p:txBody>
      </p:sp>
      <p:sp>
        <p:nvSpPr>
          <p:cNvPr id="305" name="Google Shape;305;p40"/>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.65</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sp>
        <p:nvSpPr>
          <p:cNvPr id="306" name="Google Shape;306;p40"/>
          <p:cNvSpPr txBox="1"/>
          <p:nvPr/>
        </p:nvSpPr>
        <p:spPr>
          <a:xfrm>
            <a:off x="816338" y="3071775"/>
            <a:ext cx="1575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Classifier 1</a:t>
            </a:r>
            <a:endParaRPr sz="1800">
              <a:solidFill>
                <a:schemeClr val="lt2"/>
              </a:solidFill>
            </a:endParaRPr>
          </a:p>
        </p:txBody>
      </p:sp>
      <p:pic>
        <p:nvPicPr>
          <p:cNvPr id="307" name="Google Shape;307;p40"/>
          <p:cNvPicPr preferRelativeResize="0"/>
          <p:nvPr/>
        </p:nvPicPr>
        <p:blipFill>
          <a:blip r:embed="rId3">
            <a:alphaModFix/>
          </a:blip>
          <a:stretch>
            <a:fillRect/>
          </a:stretch>
        </p:blipFill>
        <p:spPr>
          <a:xfrm>
            <a:off x="447000" y="3706050"/>
            <a:ext cx="2314575" cy="847725"/>
          </a:xfrm>
          <a:prstGeom prst="rect">
            <a:avLst/>
          </a:prstGeom>
          <a:noFill/>
          <a:ln>
            <a:noFill/>
          </a:ln>
        </p:spPr>
      </p:pic>
      <p:pic>
        <p:nvPicPr>
          <p:cNvPr id="308" name="Google Shape;308;p40"/>
          <p:cNvPicPr preferRelativeResize="0"/>
          <p:nvPr/>
        </p:nvPicPr>
        <p:blipFill>
          <a:blip r:embed="rId4">
            <a:alphaModFix/>
          </a:blip>
          <a:stretch>
            <a:fillRect/>
          </a:stretch>
        </p:blipFill>
        <p:spPr>
          <a:xfrm>
            <a:off x="3128875" y="3696525"/>
            <a:ext cx="2409825" cy="866775"/>
          </a:xfrm>
          <a:prstGeom prst="rect">
            <a:avLst/>
          </a:prstGeom>
          <a:noFill/>
          <a:ln>
            <a:noFill/>
          </a:ln>
        </p:spPr>
      </p:pic>
      <p:sp>
        <p:nvSpPr>
          <p:cNvPr id="309" name="Google Shape;309;p40"/>
          <p:cNvSpPr txBox="1"/>
          <p:nvPr/>
        </p:nvSpPr>
        <p:spPr>
          <a:xfrm>
            <a:off x="3545825" y="3071775"/>
            <a:ext cx="1575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Classifier 2</a:t>
            </a:r>
            <a:endParaRPr sz="1800">
              <a:solidFill>
                <a:schemeClr val="lt2"/>
              </a:solidFill>
            </a:endParaRPr>
          </a:p>
        </p:txBody>
      </p:sp>
      <p:pic>
        <p:nvPicPr>
          <p:cNvPr id="310" name="Google Shape;310;p40"/>
          <p:cNvPicPr preferRelativeResize="0"/>
          <p:nvPr/>
        </p:nvPicPr>
        <p:blipFill>
          <a:blip r:embed="rId5">
            <a:alphaModFix/>
          </a:blip>
          <a:stretch>
            <a:fillRect/>
          </a:stretch>
        </p:blipFill>
        <p:spPr>
          <a:xfrm>
            <a:off x="5906000" y="3691763"/>
            <a:ext cx="2314575" cy="876300"/>
          </a:xfrm>
          <a:prstGeom prst="rect">
            <a:avLst/>
          </a:prstGeom>
          <a:noFill/>
          <a:ln>
            <a:noFill/>
          </a:ln>
        </p:spPr>
      </p:pic>
      <p:sp>
        <p:nvSpPr>
          <p:cNvPr id="311" name="Google Shape;311;p40"/>
          <p:cNvSpPr txBox="1"/>
          <p:nvPr/>
        </p:nvSpPr>
        <p:spPr>
          <a:xfrm>
            <a:off x="6275300" y="3071775"/>
            <a:ext cx="1575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Classifier 3</a:t>
            </a:r>
            <a:endParaRPr sz="1800">
              <a:solidFill>
                <a:schemeClr val="lt2"/>
              </a:solidFill>
            </a:endParaRPr>
          </a:p>
        </p:txBody>
      </p:sp>
      <p:pic>
        <p:nvPicPr>
          <p:cNvPr id="312" name="Google Shape;312;p40"/>
          <p:cNvPicPr preferRelativeResize="0"/>
          <p:nvPr/>
        </p:nvPicPr>
        <p:blipFill>
          <a:blip r:embed="rId6">
            <a:alphaModFix/>
          </a:blip>
          <a:stretch>
            <a:fillRect/>
          </a:stretch>
        </p:blipFill>
        <p:spPr>
          <a:xfrm>
            <a:off x="553575" y="1170125"/>
            <a:ext cx="4498071" cy="1749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MAPE in Ranges</a:t>
            </a:r>
            <a:endParaRPr/>
          </a:p>
        </p:txBody>
      </p:sp>
      <p:sp>
        <p:nvSpPr>
          <p:cNvPr id="318" name="Google Shape;318;p41"/>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.65</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19" name="Google Shape;319;p41"/>
          <p:cNvPicPr preferRelativeResize="0"/>
          <p:nvPr/>
        </p:nvPicPr>
        <p:blipFill>
          <a:blip r:embed="rId3">
            <a:alphaModFix/>
          </a:blip>
          <a:stretch>
            <a:fillRect/>
          </a:stretch>
        </p:blipFill>
        <p:spPr>
          <a:xfrm>
            <a:off x="1758775" y="1213100"/>
            <a:ext cx="2261265" cy="3820974"/>
          </a:xfrm>
          <a:prstGeom prst="rect">
            <a:avLst/>
          </a:prstGeom>
          <a:noFill/>
          <a:ln>
            <a:noFill/>
          </a:ln>
        </p:spPr>
      </p:pic>
      <p:pic>
        <p:nvPicPr>
          <p:cNvPr id="320" name="Google Shape;320;p41"/>
          <p:cNvPicPr preferRelativeResize="0"/>
          <p:nvPr/>
        </p:nvPicPr>
        <p:blipFill>
          <a:blip r:embed="rId4">
            <a:alphaModFix/>
          </a:blip>
          <a:stretch>
            <a:fillRect/>
          </a:stretch>
        </p:blipFill>
        <p:spPr>
          <a:xfrm>
            <a:off x="4371315" y="1213100"/>
            <a:ext cx="2225336" cy="3820975"/>
          </a:xfrm>
          <a:prstGeom prst="rect">
            <a:avLst/>
          </a:prstGeom>
          <a:noFill/>
          <a:ln>
            <a:noFill/>
          </a:ln>
        </p:spPr>
      </p:pic>
      <p:sp>
        <p:nvSpPr>
          <p:cNvPr id="321" name="Google Shape;321;p41"/>
          <p:cNvSpPr txBox="1"/>
          <p:nvPr/>
        </p:nvSpPr>
        <p:spPr>
          <a:xfrm>
            <a:off x="131800" y="1409800"/>
            <a:ext cx="1483800" cy="28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Model performance predicting training values in ranges </a:t>
            </a:r>
            <a:endParaRPr sz="1800">
              <a:solidFill>
                <a:schemeClr val="lt2"/>
              </a:solidFill>
            </a:endParaRPr>
          </a:p>
        </p:txBody>
      </p:sp>
      <p:sp>
        <p:nvSpPr>
          <p:cNvPr id="322" name="Google Shape;322;p41"/>
          <p:cNvSpPr txBox="1"/>
          <p:nvPr/>
        </p:nvSpPr>
        <p:spPr>
          <a:xfrm>
            <a:off x="6879975" y="1213100"/>
            <a:ext cx="1483800" cy="28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Model performance predicting testing values in ranges </a:t>
            </a:r>
            <a:endParaRPr sz="1800">
              <a:solidFill>
                <a:schemeClr val="l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MAPE in Ranges</a:t>
            </a:r>
            <a:endParaRPr/>
          </a:p>
        </p:txBody>
      </p:sp>
      <p:sp>
        <p:nvSpPr>
          <p:cNvPr id="328" name="Google Shape;328;p42"/>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.65</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29" name="Google Shape;329;p42"/>
          <p:cNvPicPr preferRelativeResize="0"/>
          <p:nvPr/>
        </p:nvPicPr>
        <p:blipFill>
          <a:blip r:embed="rId3">
            <a:alphaModFix/>
          </a:blip>
          <a:stretch>
            <a:fillRect/>
          </a:stretch>
        </p:blipFill>
        <p:spPr>
          <a:xfrm>
            <a:off x="467600" y="1198775"/>
            <a:ext cx="6248400" cy="3571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3"/>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Training on Full Data</a:t>
            </a:r>
            <a:endParaRPr/>
          </a:p>
        </p:txBody>
      </p:sp>
      <p:sp>
        <p:nvSpPr>
          <p:cNvPr id="335" name="Google Shape;335;p43"/>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.65</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36" name="Google Shape;336;p43"/>
          <p:cNvPicPr preferRelativeResize="0"/>
          <p:nvPr/>
        </p:nvPicPr>
        <p:blipFill>
          <a:blip r:embed="rId3">
            <a:alphaModFix/>
          </a:blip>
          <a:stretch>
            <a:fillRect/>
          </a:stretch>
        </p:blipFill>
        <p:spPr>
          <a:xfrm>
            <a:off x="152400" y="1170125"/>
            <a:ext cx="5639788" cy="3820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Training on Full Data</a:t>
            </a:r>
            <a:endParaRPr/>
          </a:p>
        </p:txBody>
      </p:sp>
      <p:sp>
        <p:nvSpPr>
          <p:cNvPr id="342" name="Google Shape;342;p44"/>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.65</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43" name="Google Shape;343;p44"/>
          <p:cNvPicPr preferRelativeResize="0"/>
          <p:nvPr/>
        </p:nvPicPr>
        <p:blipFill>
          <a:blip r:embed="rId3">
            <a:alphaModFix/>
          </a:blip>
          <a:stretch>
            <a:fillRect/>
          </a:stretch>
        </p:blipFill>
        <p:spPr>
          <a:xfrm>
            <a:off x="410275" y="1017725"/>
            <a:ext cx="6068525" cy="1926925"/>
          </a:xfrm>
          <a:prstGeom prst="rect">
            <a:avLst/>
          </a:prstGeom>
          <a:noFill/>
          <a:ln>
            <a:noFill/>
          </a:ln>
        </p:spPr>
      </p:pic>
      <p:pic>
        <p:nvPicPr>
          <p:cNvPr id="344" name="Google Shape;344;p44"/>
          <p:cNvPicPr preferRelativeResize="0"/>
          <p:nvPr/>
        </p:nvPicPr>
        <p:blipFill>
          <a:blip r:embed="rId4">
            <a:alphaModFix/>
          </a:blip>
          <a:stretch>
            <a:fillRect/>
          </a:stretch>
        </p:blipFill>
        <p:spPr>
          <a:xfrm>
            <a:off x="410275" y="3441875"/>
            <a:ext cx="2743200" cy="1371600"/>
          </a:xfrm>
          <a:prstGeom prst="rect">
            <a:avLst/>
          </a:prstGeom>
          <a:noFill/>
          <a:ln>
            <a:noFill/>
          </a:ln>
        </p:spPr>
      </p:pic>
      <p:pic>
        <p:nvPicPr>
          <p:cNvPr id="345" name="Google Shape;345;p44"/>
          <p:cNvPicPr preferRelativeResize="0"/>
          <p:nvPr/>
        </p:nvPicPr>
        <p:blipFill>
          <a:blip r:embed="rId5">
            <a:alphaModFix/>
          </a:blip>
          <a:stretch>
            <a:fillRect/>
          </a:stretch>
        </p:blipFill>
        <p:spPr>
          <a:xfrm>
            <a:off x="4853225" y="3489500"/>
            <a:ext cx="2943225" cy="1276350"/>
          </a:xfrm>
          <a:prstGeom prst="rect">
            <a:avLst/>
          </a:prstGeom>
          <a:noFill/>
          <a:ln>
            <a:noFill/>
          </a:ln>
        </p:spPr>
      </p:pic>
      <p:sp>
        <p:nvSpPr>
          <p:cNvPr id="346" name="Google Shape;346;p44"/>
          <p:cNvSpPr txBox="1"/>
          <p:nvPr/>
        </p:nvSpPr>
        <p:spPr>
          <a:xfrm>
            <a:off x="252800" y="2986225"/>
            <a:ext cx="317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rPr>
              <a:t>MAPE when predicting $100</a:t>
            </a:r>
            <a:endParaRPr sz="1800">
              <a:solidFill>
                <a:schemeClr val="lt2"/>
              </a:solidFill>
            </a:endParaRPr>
          </a:p>
        </p:txBody>
      </p:sp>
      <p:sp>
        <p:nvSpPr>
          <p:cNvPr id="347" name="Google Shape;347;p44"/>
          <p:cNvSpPr txBox="1"/>
          <p:nvPr/>
        </p:nvSpPr>
        <p:spPr>
          <a:xfrm>
            <a:off x="4427038" y="2986225"/>
            <a:ext cx="379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rPr>
              <a:t>MAPE when not predicting $100</a:t>
            </a:r>
            <a:endParaRPr sz="1800">
              <a:solidFill>
                <a:schemeClr val="lt2"/>
              </a:solidFill>
            </a:endParaRPr>
          </a:p>
        </p:txBody>
      </p:sp>
      <p:sp>
        <p:nvSpPr>
          <p:cNvPr id="348" name="Google Shape;348;p44"/>
          <p:cNvSpPr txBox="1"/>
          <p:nvPr/>
        </p:nvSpPr>
        <p:spPr>
          <a:xfrm>
            <a:off x="1813950" y="4765850"/>
            <a:ext cx="55161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Lower bound is exclusive. Upper bound is inclusive.</a:t>
            </a:r>
            <a:endParaRPr sz="1800">
              <a:solidFill>
                <a:schemeClr val="lt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Performance on All Data</a:t>
            </a:r>
            <a:endParaRPr/>
          </a:p>
        </p:txBody>
      </p:sp>
      <p:sp>
        <p:nvSpPr>
          <p:cNvPr id="354" name="Google Shape;354;p45"/>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.30</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55" name="Google Shape;355;p45"/>
          <p:cNvPicPr preferRelativeResize="0"/>
          <p:nvPr/>
        </p:nvPicPr>
        <p:blipFill>
          <a:blip r:embed="rId3">
            <a:alphaModFix/>
          </a:blip>
          <a:stretch>
            <a:fillRect/>
          </a:stretch>
        </p:blipFill>
        <p:spPr>
          <a:xfrm>
            <a:off x="410275" y="1017725"/>
            <a:ext cx="4605909" cy="1663700"/>
          </a:xfrm>
          <a:prstGeom prst="rect">
            <a:avLst/>
          </a:prstGeom>
          <a:noFill/>
          <a:ln>
            <a:noFill/>
          </a:ln>
        </p:spPr>
      </p:pic>
      <p:pic>
        <p:nvPicPr>
          <p:cNvPr id="356" name="Google Shape;356;p45"/>
          <p:cNvPicPr preferRelativeResize="0"/>
          <p:nvPr/>
        </p:nvPicPr>
        <p:blipFill>
          <a:blip r:embed="rId4">
            <a:alphaModFix/>
          </a:blip>
          <a:stretch>
            <a:fillRect/>
          </a:stretch>
        </p:blipFill>
        <p:spPr>
          <a:xfrm>
            <a:off x="436238" y="3177675"/>
            <a:ext cx="6562725" cy="1828800"/>
          </a:xfrm>
          <a:prstGeom prst="rect">
            <a:avLst/>
          </a:prstGeom>
          <a:noFill/>
          <a:ln>
            <a:noFill/>
          </a:ln>
        </p:spPr>
      </p:pic>
      <p:pic>
        <p:nvPicPr>
          <p:cNvPr id="357" name="Google Shape;357;p45"/>
          <p:cNvPicPr preferRelativeResize="0"/>
          <p:nvPr/>
        </p:nvPicPr>
        <p:blipFill>
          <a:blip r:embed="rId5">
            <a:alphaModFix/>
          </a:blip>
          <a:stretch>
            <a:fillRect/>
          </a:stretch>
        </p:blipFill>
        <p:spPr>
          <a:xfrm>
            <a:off x="436250" y="2704935"/>
            <a:ext cx="2363700" cy="47274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6"/>
          <p:cNvSpPr txBox="1"/>
          <p:nvPr>
            <p:ph type="title"/>
          </p:nvPr>
        </p:nvSpPr>
        <p:spPr>
          <a:xfrm>
            <a:off x="311700" y="445025"/>
            <a:ext cx="681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 Predicting prices for a house</a:t>
            </a:r>
            <a:endParaRPr/>
          </a:p>
        </p:txBody>
      </p:sp>
      <p:sp>
        <p:nvSpPr>
          <p:cNvPr id="363" name="Google Shape;363;p46"/>
          <p:cNvSpPr txBox="1"/>
          <p:nvPr/>
        </p:nvSpPr>
        <p:spPr>
          <a:xfrm>
            <a:off x="6879975" y="0"/>
            <a:ext cx="2363700" cy="7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Training MAPE: .33</a:t>
            </a:r>
            <a:endParaRPr sz="1800">
              <a:solidFill>
                <a:schemeClr val="lt2"/>
              </a:solidFill>
            </a:endParaRPr>
          </a:p>
          <a:p>
            <a:pPr indent="0" lvl="0" marL="0" rtl="0" algn="l">
              <a:spcBef>
                <a:spcPts val="0"/>
              </a:spcBef>
              <a:spcAft>
                <a:spcPts val="0"/>
              </a:spcAft>
              <a:buNone/>
            </a:pPr>
            <a:r>
              <a:rPr lang="en" sz="1800">
                <a:solidFill>
                  <a:schemeClr val="lt2"/>
                </a:solidFill>
              </a:rPr>
              <a:t>Testing MAPE: .30</a:t>
            </a:r>
            <a:endParaRPr sz="1800">
              <a:solidFill>
                <a:schemeClr val="lt2"/>
              </a:solidFill>
            </a:endParaRPr>
          </a:p>
          <a:p>
            <a:pPr indent="0" lvl="0" marL="0" rtl="0" algn="l">
              <a:spcBef>
                <a:spcPts val="0"/>
              </a:spcBef>
              <a:spcAft>
                <a:spcPts val="0"/>
              </a:spcAft>
              <a:buNone/>
            </a:pPr>
            <a:r>
              <a:rPr lang="en" sz="1800">
                <a:solidFill>
                  <a:schemeClr val="lt2"/>
                </a:solidFill>
              </a:rPr>
              <a:t>Best Model: HGB_Reg1</a:t>
            </a:r>
            <a:endParaRPr sz="1800">
              <a:solidFill>
                <a:schemeClr val="lt2"/>
              </a:solidFill>
            </a:endParaRPr>
          </a:p>
        </p:txBody>
      </p:sp>
      <p:pic>
        <p:nvPicPr>
          <p:cNvPr id="364" name="Google Shape;364;p46"/>
          <p:cNvPicPr preferRelativeResize="0"/>
          <p:nvPr/>
        </p:nvPicPr>
        <p:blipFill>
          <a:blip r:embed="rId3">
            <a:alphaModFix/>
          </a:blip>
          <a:stretch>
            <a:fillRect/>
          </a:stretch>
        </p:blipFill>
        <p:spPr>
          <a:xfrm>
            <a:off x="311700" y="2646250"/>
            <a:ext cx="5325999" cy="2091725"/>
          </a:xfrm>
          <a:prstGeom prst="rect">
            <a:avLst/>
          </a:prstGeom>
          <a:noFill/>
          <a:ln>
            <a:noFill/>
          </a:ln>
        </p:spPr>
      </p:pic>
      <p:pic>
        <p:nvPicPr>
          <p:cNvPr id="365" name="Google Shape;365;p46"/>
          <p:cNvPicPr preferRelativeResize="0"/>
          <p:nvPr/>
        </p:nvPicPr>
        <p:blipFill>
          <a:blip r:embed="rId4">
            <a:alphaModFix/>
          </a:blip>
          <a:stretch>
            <a:fillRect/>
          </a:stretch>
        </p:blipFill>
        <p:spPr>
          <a:xfrm>
            <a:off x="441375" y="1170125"/>
            <a:ext cx="4234276" cy="1323725"/>
          </a:xfrm>
          <a:prstGeom prst="rect">
            <a:avLst/>
          </a:prstGeom>
          <a:noFill/>
          <a:ln>
            <a:noFill/>
          </a:ln>
        </p:spPr>
      </p:pic>
      <p:sp>
        <p:nvSpPr>
          <p:cNvPr id="366" name="Google Shape;366;p46"/>
          <p:cNvSpPr txBox="1"/>
          <p:nvPr/>
        </p:nvSpPr>
        <p:spPr>
          <a:xfrm>
            <a:off x="5000100" y="1395575"/>
            <a:ext cx="3167700" cy="10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Query dataset for houses similar to a current house on the market.</a:t>
            </a:r>
            <a:endParaRPr sz="1800">
              <a:solidFill>
                <a:schemeClr val="lt2"/>
              </a:solidFill>
            </a:endParaRPr>
          </a:p>
        </p:txBody>
      </p:sp>
      <p:sp>
        <p:nvSpPr>
          <p:cNvPr id="367" name="Google Shape;367;p46"/>
          <p:cNvSpPr txBox="1"/>
          <p:nvPr/>
        </p:nvSpPr>
        <p:spPr>
          <a:xfrm>
            <a:off x="5869550" y="2864350"/>
            <a:ext cx="2619600" cy="13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11 similar houses were found. I made a boxplot of their true prices and their predicted prices.</a:t>
            </a:r>
            <a:endParaRPr sz="1800">
              <a:solidFill>
                <a:schemeClr val="lt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
        <p:nvSpPr>
          <p:cNvPr id="373" name="Google Shape;37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